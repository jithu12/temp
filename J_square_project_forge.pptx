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2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6" r:id="rId19"/>
    <p:sldId id="305" r:id="rId20"/>
    <p:sldId id="307" r:id="rId21"/>
    <p:sldId id="309" r:id="rId22"/>
    <p:sldId id="308" r:id="rId23"/>
    <p:sldId id="310" r:id="rId24"/>
    <p:sldId id="311" r:id="rId25"/>
    <p:sldId id="312" r:id="rId26"/>
    <p:sldId id="278" r:id="rId27"/>
  </p:sldIdLst>
  <p:sldSz cx="9144000" cy="5143500" type="screen16x9"/>
  <p:notesSz cx="6858000" cy="9144000"/>
  <p:embeddedFontLst>
    <p:embeddedFont>
      <p:font typeface="Lexend Deca" panose="020B0604020202020204" charset="-78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138BE6-E374-4A1A-BE6D-9E52B14417BE}">
  <a:tblStyle styleId="{1A138BE6-E374-4A1A-BE6D-9E52B14417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0286F9A-8295-4760-8310-7838FB866F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2094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thu paul" userId="ea3bfb36894ee87b" providerId="LiveId" clId="{5E081517-3882-44C2-A304-0F0D16EC5030}"/>
    <pc:docChg chg="undo custSel modSld modMainMaster">
      <pc:chgData name="jithu paul" userId="ea3bfb36894ee87b" providerId="LiveId" clId="{5E081517-3882-44C2-A304-0F0D16EC5030}" dt="2025-11-26T15:34:13.103" v="14" actId="478"/>
      <pc:docMkLst>
        <pc:docMk/>
      </pc:docMkLst>
      <pc:sldChg chg="modTransition">
        <pc:chgData name="jithu paul" userId="ea3bfb36894ee87b" providerId="LiveId" clId="{5E081517-3882-44C2-A304-0F0D16EC5030}" dt="2025-11-26T15:27:59.872" v="0"/>
        <pc:sldMkLst>
          <pc:docMk/>
          <pc:sldMk cId="0" sldId="256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0" sldId="258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0" sldId="259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0" sldId="260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0" sldId="261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0" sldId="262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0" sldId="263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0" sldId="272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0" sldId="278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4261536349" sldId="296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3299246140" sldId="297"/>
        </pc:sldMkLst>
      </pc:sldChg>
      <pc:sldChg chg="addSp modSp mod modTransition">
        <pc:chgData name="jithu paul" userId="ea3bfb36894ee87b" providerId="LiveId" clId="{5E081517-3882-44C2-A304-0F0D16EC5030}" dt="2025-11-26T15:31:37.564" v="2" actId="1076"/>
        <pc:sldMkLst>
          <pc:docMk/>
          <pc:sldMk cId="607645598" sldId="298"/>
        </pc:sldMkLst>
        <pc:picChg chg="add mod">
          <ac:chgData name="jithu paul" userId="ea3bfb36894ee87b" providerId="LiveId" clId="{5E081517-3882-44C2-A304-0F0D16EC5030}" dt="2025-11-26T15:31:37.564" v="2" actId="1076"/>
          <ac:picMkLst>
            <pc:docMk/>
            <pc:sldMk cId="607645598" sldId="298"/>
            <ac:picMk id="5" creationId="{4DB32114-E909-6083-A364-1C714256A842}"/>
          </ac:picMkLst>
        </pc:picChg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3837127529" sldId="299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2310719931" sldId="300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736495555" sldId="301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596845919" sldId="302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650310798" sldId="303"/>
        </pc:sldMkLst>
      </pc:sldChg>
      <pc:sldChg chg="addSp delSp modSp mod modTransition">
        <pc:chgData name="jithu paul" userId="ea3bfb36894ee87b" providerId="LiveId" clId="{5E081517-3882-44C2-A304-0F0D16EC5030}" dt="2025-11-26T15:34:13.103" v="14" actId="478"/>
        <pc:sldMkLst>
          <pc:docMk/>
          <pc:sldMk cId="610811679" sldId="304"/>
        </pc:sldMkLst>
        <pc:picChg chg="add del mod">
          <ac:chgData name="jithu paul" userId="ea3bfb36894ee87b" providerId="LiveId" clId="{5E081517-3882-44C2-A304-0F0D16EC5030}" dt="2025-11-26T15:34:13.103" v="14" actId="478"/>
          <ac:picMkLst>
            <pc:docMk/>
            <pc:sldMk cId="610811679" sldId="304"/>
            <ac:picMk id="2" creationId="{E4AAEF4F-CFF1-B566-05B8-31E5BD64DFD8}"/>
          </ac:picMkLst>
        </pc:picChg>
        <pc:picChg chg="add del mod">
          <ac:chgData name="jithu paul" userId="ea3bfb36894ee87b" providerId="LiveId" clId="{5E081517-3882-44C2-A304-0F0D16EC5030}" dt="2025-11-26T15:34:13.103" v="14" actId="478"/>
          <ac:picMkLst>
            <pc:docMk/>
            <pc:sldMk cId="610811679" sldId="304"/>
            <ac:picMk id="3" creationId="{84EFE7BC-CDBE-63C5-14E0-CA994DA1AB48}"/>
          </ac:picMkLst>
        </pc:picChg>
      </pc:sldChg>
      <pc:sldChg chg="addSp delSp modSp mod modTransition">
        <pc:chgData name="jithu paul" userId="ea3bfb36894ee87b" providerId="LiveId" clId="{5E081517-3882-44C2-A304-0F0D16EC5030}" dt="2025-11-26T15:33:20.035" v="10" actId="1076"/>
        <pc:sldMkLst>
          <pc:docMk/>
          <pc:sldMk cId="2385015287" sldId="305"/>
        </pc:sldMkLst>
        <pc:picChg chg="add mod">
          <ac:chgData name="jithu paul" userId="ea3bfb36894ee87b" providerId="LiveId" clId="{5E081517-3882-44C2-A304-0F0D16EC5030}" dt="2025-11-26T15:33:09.716" v="8" actId="1076"/>
          <ac:picMkLst>
            <pc:docMk/>
            <pc:sldMk cId="2385015287" sldId="305"/>
            <ac:picMk id="2" creationId="{DAFD1D3C-4B93-6741-10E9-CC8442A7DF8D}"/>
          </ac:picMkLst>
        </pc:picChg>
        <pc:picChg chg="add mod">
          <ac:chgData name="jithu paul" userId="ea3bfb36894ee87b" providerId="LiveId" clId="{5E081517-3882-44C2-A304-0F0D16EC5030}" dt="2025-11-26T15:33:20.035" v="10" actId="1076"/>
          <ac:picMkLst>
            <pc:docMk/>
            <pc:sldMk cId="2385015287" sldId="305"/>
            <ac:picMk id="3" creationId="{03F14A6F-D37D-2315-D2BF-80AF96DC9868}"/>
          </ac:picMkLst>
        </pc:picChg>
        <pc:picChg chg="del">
          <ac:chgData name="jithu paul" userId="ea3bfb36894ee87b" providerId="LiveId" clId="{5E081517-3882-44C2-A304-0F0D16EC5030}" dt="2025-11-26T15:33:08.134" v="7" actId="478"/>
          <ac:picMkLst>
            <pc:docMk/>
            <pc:sldMk cId="2385015287" sldId="305"/>
            <ac:picMk id="4" creationId="{B5D7E8B9-53CF-D840-853C-C1A52FD2B5DD}"/>
          </ac:picMkLst>
        </pc:picChg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2121333738" sldId="306"/>
        </pc:sldMkLst>
      </pc:sldChg>
      <pc:sldChg chg="modSp mod modTransition">
        <pc:chgData name="jithu paul" userId="ea3bfb36894ee87b" providerId="LiveId" clId="{5E081517-3882-44C2-A304-0F0D16EC5030}" dt="2025-11-26T15:33:30.515" v="11" actId="14100"/>
        <pc:sldMkLst>
          <pc:docMk/>
          <pc:sldMk cId="4001303668" sldId="307"/>
        </pc:sldMkLst>
        <pc:picChg chg="mod">
          <ac:chgData name="jithu paul" userId="ea3bfb36894ee87b" providerId="LiveId" clId="{5E081517-3882-44C2-A304-0F0D16EC5030}" dt="2025-11-26T15:33:30.515" v="11" actId="14100"/>
          <ac:picMkLst>
            <pc:docMk/>
            <pc:sldMk cId="4001303668" sldId="307"/>
            <ac:picMk id="4" creationId="{9859F301-F325-06DB-44AF-6586EDB23152}"/>
          </ac:picMkLst>
        </pc:picChg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136097033" sldId="308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342787070" sldId="309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1948957463" sldId="310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1772469614" sldId="311"/>
        </pc:sldMkLst>
      </pc:sldChg>
      <pc:sldChg chg="modTransition">
        <pc:chgData name="jithu paul" userId="ea3bfb36894ee87b" providerId="LiveId" clId="{5E081517-3882-44C2-A304-0F0D16EC5030}" dt="2025-11-26T15:27:59.872" v="0"/>
        <pc:sldMkLst>
          <pc:docMk/>
          <pc:sldMk cId="2825702523" sldId="312"/>
        </pc:sldMkLst>
      </pc:sldChg>
      <pc:sldMasterChg chg="modTransition modSldLayout">
        <pc:chgData name="jithu paul" userId="ea3bfb36894ee87b" providerId="LiveId" clId="{5E081517-3882-44C2-A304-0F0D16EC5030}" dt="2025-11-26T15:27:59.872" v="0"/>
        <pc:sldMasterMkLst>
          <pc:docMk/>
          <pc:sldMasterMk cId="0" sldId="2147483659"/>
        </pc:sldMasterMkLst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48"/>
          </pc:sldLayoutMkLst>
        </pc:sldLayoutChg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49"/>
          </pc:sldLayoutMkLst>
        </pc:sldLayoutChg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50"/>
          </pc:sldLayoutMkLst>
        </pc:sldLayoutChg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51"/>
          </pc:sldLayoutMkLst>
        </pc:sldLayoutChg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52"/>
          </pc:sldLayoutMkLst>
        </pc:sldLayoutChg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53"/>
          </pc:sldLayoutMkLst>
        </pc:sldLayoutChg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54"/>
          </pc:sldLayoutMkLst>
        </pc:sldLayoutChg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56"/>
          </pc:sldLayoutMkLst>
        </pc:sldLayoutChg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57"/>
          </pc:sldLayoutMkLst>
        </pc:sldLayoutChg>
        <pc:sldLayoutChg chg="modTransition">
          <pc:chgData name="jithu paul" userId="ea3bfb36894ee87b" providerId="LiveId" clId="{5E081517-3882-44C2-A304-0F0D16EC5030}" dt="2025-11-26T15:27:59.872" v="0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>
          <a:extLst>
            <a:ext uri="{FF2B5EF4-FFF2-40B4-BE49-F238E27FC236}">
              <a16:creationId xmlns:a16="http://schemas.microsoft.com/office/drawing/2014/main" id="{9AE50CDA-02DB-BECE-CE56-3584F3A0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bc98855ff3_0_134:notes">
            <a:extLst>
              <a:ext uri="{FF2B5EF4-FFF2-40B4-BE49-F238E27FC236}">
                <a16:creationId xmlns:a16="http://schemas.microsoft.com/office/drawing/2014/main" id="{E0DA13E0-749B-3A86-10C3-47B1946FB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bc98855ff3_0_134:notes">
            <a:extLst>
              <a:ext uri="{FF2B5EF4-FFF2-40B4-BE49-F238E27FC236}">
                <a16:creationId xmlns:a16="http://schemas.microsoft.com/office/drawing/2014/main" id="{944F4920-62EC-197C-51AD-56FAF742C0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846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>
          <a:extLst>
            <a:ext uri="{FF2B5EF4-FFF2-40B4-BE49-F238E27FC236}">
              <a16:creationId xmlns:a16="http://schemas.microsoft.com/office/drawing/2014/main" id="{75F68884-D737-BC00-83A4-662420C4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bc98855ff3_0_78:notes">
            <a:extLst>
              <a:ext uri="{FF2B5EF4-FFF2-40B4-BE49-F238E27FC236}">
                <a16:creationId xmlns:a16="http://schemas.microsoft.com/office/drawing/2014/main" id="{707E4022-2B63-0B11-EAA3-A66A042C9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bc98855ff3_0_78:notes">
            <a:extLst>
              <a:ext uri="{FF2B5EF4-FFF2-40B4-BE49-F238E27FC236}">
                <a16:creationId xmlns:a16="http://schemas.microsoft.com/office/drawing/2014/main" id="{C5E89866-4DFB-0636-590F-A6A254B98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212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05CEC1CA-6609-E799-7DFC-3206D8AB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56688917-6111-2CDE-AEED-65F0E6947F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8E028000-E1E7-2532-DA92-AAC7AB2C8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690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1E328014-1B73-ED71-527E-584A856B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129194BF-746C-627E-F90A-2634B2C0A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C8ACAE44-DAF4-FB1E-6B73-C4CBE568F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1804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EDD34C9-D127-AB97-5D7F-C258751D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DD46F918-0D9A-1053-2701-FA819CA41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D2FFB916-7A56-106F-FF57-606245326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185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105E78EE-0F41-B204-27DB-FED9E3613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1A364516-120F-9159-0BA6-7E27595D6F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3C39E150-4B03-A652-BE6B-6F941640A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571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802B895D-CE8A-793A-77A6-161A3D0E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10053624-36E2-3F75-80D0-51C891FF48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DB781095-DD1C-531C-214E-D2F7F51775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486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F8D51F13-E336-3243-C14A-722AC25FF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B3EDA83E-134E-E9D1-3B14-D2DCB3B0B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B32CB06B-3C0E-D104-4290-06042CAE1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9648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069D6C10-5C6A-3428-914F-DC736B2D5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12A53EDD-9534-0E2B-0882-4FE3B6FEA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2EC8CB56-0F2A-8216-33FA-4563FD9B7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341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3043B83-914D-431E-2CD4-FFD34FC0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60EFC42A-7929-4F99-6B10-05B7F0C82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E4DE9650-04C8-6238-02FD-AABFAA0F3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673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9C90F31-A2A3-8753-3944-FEE61243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82A86FD1-8AB8-3FB5-B101-003F6648C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0F07E50E-3C47-E4E7-EE1E-8E2D3A0C65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967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A64A2D92-C318-B382-09F2-CB63760DA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64C225D2-F924-2C97-345D-44FF132BEF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AE87340E-09DB-7B2B-BD04-92A71F1D1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6234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DDAF530-2577-0989-7C47-3B2B9EED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86F1E3AF-DAF8-F13B-E3F8-43181498C4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1BE789D6-BBFB-12E8-B5F8-DA01BD69B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5863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58E6A9D3-3875-C53A-B8E3-DBA4F705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ed75ccf_057:notes">
            <a:extLst>
              <a:ext uri="{FF2B5EF4-FFF2-40B4-BE49-F238E27FC236}">
                <a16:creationId xmlns:a16="http://schemas.microsoft.com/office/drawing/2014/main" id="{24F15D24-AC25-E6A1-B002-614A8B99B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ed75ccf_057:notes">
            <a:extLst>
              <a:ext uri="{FF2B5EF4-FFF2-40B4-BE49-F238E27FC236}">
                <a16:creationId xmlns:a16="http://schemas.microsoft.com/office/drawing/2014/main" id="{603F3D9C-DEA3-21DE-A283-F49A540A5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27093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7C68E279-AECD-09F3-3B93-189B7674D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ed75ccf_057:notes">
            <a:extLst>
              <a:ext uri="{FF2B5EF4-FFF2-40B4-BE49-F238E27FC236}">
                <a16:creationId xmlns:a16="http://schemas.microsoft.com/office/drawing/2014/main" id="{A8D225F2-1D15-98F1-0262-894FEFD83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ed75ccf_057:notes">
            <a:extLst>
              <a:ext uri="{FF2B5EF4-FFF2-40B4-BE49-F238E27FC236}">
                <a16:creationId xmlns:a16="http://schemas.microsoft.com/office/drawing/2014/main" id="{F761110A-DC8F-4ADE-0DF1-5495D4666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2619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20B5AD53-3BC7-9F73-8D49-83A4E4348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64AFA9A7-A8BB-EE75-665F-44E56096F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B6B93B2B-4DEC-E981-C89F-F48F9B544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2394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2C9E96FF-22D5-8A46-330C-BE896E7C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>
            <a:extLst>
              <a:ext uri="{FF2B5EF4-FFF2-40B4-BE49-F238E27FC236}">
                <a16:creationId xmlns:a16="http://schemas.microsoft.com/office/drawing/2014/main" id="{8E357CC9-2708-FF9C-4949-7F1FCFF33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>
            <a:extLst>
              <a:ext uri="{FF2B5EF4-FFF2-40B4-BE49-F238E27FC236}">
                <a16:creationId xmlns:a16="http://schemas.microsoft.com/office/drawing/2014/main" id="{C5CFA62E-850B-38EC-C56A-CF3C4AA17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5835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42525" y="42525"/>
            <a:ext cx="2000100" cy="2000100"/>
          </a:xfrm>
          <a:prstGeom prst="ellipse">
            <a:avLst/>
          </a:prstGeom>
          <a:gradFill>
            <a:gsLst>
              <a:gs pos="0">
                <a:srgbClr val="00FFFF">
                  <a:alpha val="54117"/>
                </a:srgbClr>
              </a:gs>
              <a:gs pos="73000">
                <a:srgbClr val="00FFFF">
                  <a:alpha val="0"/>
                </a:srgbClr>
              </a:gs>
              <a:gs pos="100000">
                <a:srgbClr val="00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Font typeface="Lexend Deca"/>
              <a:buChar char="⬡"/>
              <a:defRPr sz="3000"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826414" y="656117"/>
            <a:ext cx="6138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sz="72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⬡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11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685799" y="1991824"/>
            <a:ext cx="4570803" cy="144555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dirty="0"/>
              <a:t>QUANTA </a:t>
            </a:r>
            <a:br>
              <a:rPr lang="en-GB" dirty="0"/>
            </a:br>
            <a:r>
              <a:rPr lang="en-GB" sz="1800" dirty="0"/>
              <a:t>(data + intelligence)</a:t>
            </a:r>
            <a:br>
              <a:rPr lang="en-GB" sz="1800" dirty="0"/>
            </a:br>
            <a:br>
              <a:rPr lang="en-GB" sz="1800" dirty="0"/>
            </a:br>
            <a:r>
              <a:rPr lang="en-GB" sz="1000" dirty="0"/>
              <a:t>Quantum Unified Automation for Next-Gen Ticket Analysis</a:t>
            </a:r>
            <a:br>
              <a:rPr lang="en-GB" sz="1000" spc="300" dirty="0"/>
            </a:br>
            <a:endParaRPr lang="en-GB" sz="1000" spc="300" dirty="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475" y="1050906"/>
            <a:ext cx="1782850" cy="20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ctrTitle" idx="4294967295"/>
          </p:nvPr>
        </p:nvSpPr>
        <p:spPr>
          <a:xfrm>
            <a:off x="685800" y="1341750"/>
            <a:ext cx="3617400" cy="92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Hello!</a:t>
            </a:r>
            <a:endParaRPr sz="7200" dirty="0"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4294967295"/>
          </p:nvPr>
        </p:nvSpPr>
        <p:spPr>
          <a:xfrm>
            <a:off x="685800" y="2302047"/>
            <a:ext cx="3617400" cy="14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-GB" sz="1800" b="1" dirty="0"/>
              <a:t>We are Jithu Paul and Jahnavi </a:t>
            </a:r>
            <a:r>
              <a:rPr lang="en-GB" sz="1800" b="1" dirty="0" err="1"/>
              <a:t>Bodala</a:t>
            </a:r>
            <a:r>
              <a:rPr lang="en-GB" sz="1800" b="1" dirty="0"/>
              <a:t>.</a:t>
            </a:r>
            <a:endParaRPr sz="1800" b="1" dirty="0">
              <a:latin typeface="Muli"/>
              <a:ea typeface="Muli"/>
              <a:cs typeface="Muli"/>
              <a:sym typeface="Muli"/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GB" sz="1800" dirty="0"/>
              <a:t>We are here because we love creating ideas that drive innovation.</a:t>
            </a:r>
            <a:r>
              <a:rPr lang="en" sz="1800" dirty="0"/>
              <a:t>. </a:t>
            </a:r>
            <a:endParaRPr sz="1800" dirty="0"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/>
          <a:srcRect l="4968" r="4968"/>
          <a:stretch/>
        </p:blipFill>
        <p:spPr>
          <a:xfrm>
            <a:off x="4840802" y="1040850"/>
            <a:ext cx="3676800" cy="3061800"/>
          </a:xfrm>
          <a:prstGeom prst="hexagon">
            <a:avLst>
              <a:gd name="adj" fmla="val 25000"/>
              <a:gd name="vf" fmla="val 115470"/>
            </a:avLst>
          </a:prstGeom>
          <a:noFill/>
          <a:ln>
            <a:noFill/>
          </a:ln>
          <a:effectLst>
            <a:outerShdw blurRad="257175" dist="57150" dir="5400000" algn="bl" rotWithShape="0">
              <a:schemeClr val="dk1">
                <a:alpha val="50000"/>
              </a:schemeClr>
            </a:outerShdw>
          </a:effectLst>
        </p:spPr>
      </p:pic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1343849" y="866400"/>
            <a:ext cx="6091037" cy="36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-GB" dirty="0"/>
              <a:t>Great ideas become powerful innovations when intelligence, automation, and purpose come together to solve real-world challenges effectively</a:t>
            </a:r>
            <a:r>
              <a:rPr lang="en" dirty="0"/>
              <a:t>.</a:t>
            </a:r>
            <a:endParaRPr dirty="0"/>
          </a:p>
        </p:txBody>
      </p:sp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ctrTitle"/>
          </p:nvPr>
        </p:nvSpPr>
        <p:spPr>
          <a:xfrm>
            <a:off x="685799" y="1659550"/>
            <a:ext cx="4977735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Executive Summary</a:t>
            </a:r>
            <a:endParaRPr dirty="0"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72;p35">
            <a:extLst>
              <a:ext uri="{FF2B5EF4-FFF2-40B4-BE49-F238E27FC236}">
                <a16:creationId xmlns:a16="http://schemas.microsoft.com/office/drawing/2014/main" id="{8CBF77D2-ABAE-C92D-7E45-A634700AD21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2714" y="1126929"/>
            <a:ext cx="1279700" cy="149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Executive Summary</a:t>
            </a:r>
            <a:endParaRPr dirty="0"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GB" sz="1800" dirty="0"/>
              <a:t>AI system identifies and automates high-volume repetitive tasks.</a:t>
            </a:r>
          </a:p>
          <a:p>
            <a:r>
              <a:rPr lang="en-GB" sz="1800" dirty="0"/>
              <a:t>Integrates Unity API, GDAT API, OEM telemetry for intelligent decision-making.</a:t>
            </a:r>
          </a:p>
          <a:p>
            <a:r>
              <a:rPr lang="en-GB" sz="1800" dirty="0"/>
              <a:t>Reduces manual workload and improves operational consistency.</a:t>
            </a:r>
          </a:p>
          <a:p>
            <a:r>
              <a:rPr lang="en-GB" sz="1800" dirty="0"/>
              <a:t>Delivers measurable ROI through time and cost savings.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0416" y="2211062"/>
            <a:ext cx="2017495" cy="120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>
            <a:spLocks noGrp="1"/>
          </p:cNvSpPr>
          <p:nvPr>
            <p:ph type="ctrTitle" idx="4294967295"/>
          </p:nvPr>
        </p:nvSpPr>
        <p:spPr>
          <a:xfrm>
            <a:off x="560498" y="2222037"/>
            <a:ext cx="5093527" cy="198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6000" dirty="0"/>
              <a:t>Introduction</a:t>
            </a:r>
            <a:endParaRPr sz="6000" dirty="0"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6955" y="1434470"/>
            <a:ext cx="481900" cy="5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9684" y="1556163"/>
            <a:ext cx="481900" cy="5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4025" y="2170138"/>
            <a:ext cx="1111472" cy="96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4025" y="1777572"/>
            <a:ext cx="1111472" cy="96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87011" y="756240"/>
            <a:ext cx="1245500" cy="799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80302" y="1666762"/>
            <a:ext cx="848475" cy="55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9"/>
          <p:cNvCxnSpPr/>
          <p:nvPr/>
        </p:nvCxnSpPr>
        <p:spPr>
          <a:xfrm>
            <a:off x="6958825" y="3257288"/>
            <a:ext cx="664200" cy="383400"/>
          </a:xfrm>
          <a:prstGeom prst="straightConnector1">
            <a:avLst/>
          </a:prstGeom>
          <a:noFill/>
          <a:ln w="19050" cap="rnd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9"/>
          <p:cNvCxnSpPr/>
          <p:nvPr/>
        </p:nvCxnSpPr>
        <p:spPr>
          <a:xfrm>
            <a:off x="4910575" y="2035238"/>
            <a:ext cx="559800" cy="323100"/>
          </a:xfrm>
          <a:prstGeom prst="straightConnector1">
            <a:avLst/>
          </a:prstGeom>
          <a:noFill/>
          <a:ln w="19050" cap="rnd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22" name="Google Shape;12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03038" y="1370716"/>
            <a:ext cx="190716" cy="55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9"/>
          <p:cNvCxnSpPr/>
          <p:nvPr/>
        </p:nvCxnSpPr>
        <p:spPr>
          <a:xfrm flipH="1">
            <a:off x="4637575" y="3181088"/>
            <a:ext cx="936600" cy="540900"/>
          </a:xfrm>
          <a:prstGeom prst="straightConnector1">
            <a:avLst/>
          </a:prstGeom>
          <a:noFill/>
          <a:ln w="19050" cap="rnd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9"/>
          <p:cNvCxnSpPr/>
          <p:nvPr/>
        </p:nvCxnSpPr>
        <p:spPr>
          <a:xfrm flipH="1">
            <a:off x="6910225" y="2111438"/>
            <a:ext cx="559800" cy="32310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25" name="Google Shape;125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22863" y="2732996"/>
            <a:ext cx="1019495" cy="112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60716" y="3287994"/>
            <a:ext cx="430025" cy="59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034133" y="3448355"/>
            <a:ext cx="430025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/>
          <p:nvPr/>
        </p:nvSpPr>
        <p:spPr>
          <a:xfrm>
            <a:off x="6114350" y="1645250"/>
            <a:ext cx="190800" cy="476700"/>
          </a:xfrm>
          <a:prstGeom prst="up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accent4"/>
              </a:gs>
              <a:gs pos="100000">
                <a:srgbClr val="00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Traditional ticket workflows rely heavily on manual analysis.</a:t>
            </a:r>
          </a:p>
          <a:p>
            <a:r>
              <a:rPr lang="en-GB" dirty="0"/>
              <a:t>Project Forge uses AI to learn recurring patterns.</a:t>
            </a:r>
          </a:p>
          <a:p>
            <a:r>
              <a:rPr lang="en-GB" dirty="0"/>
              <a:t>Automates task execution end-to-end across enterprise environments.</a:t>
            </a:r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Introduction</a:t>
            </a:r>
            <a:endParaRPr dirty="0"/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Problem Statement</a:t>
            </a:r>
            <a:endParaRPr dirty="0"/>
          </a:p>
        </p:txBody>
      </p:sp>
      <p:sp>
        <p:nvSpPr>
          <p:cNvPr id="266" name="Google Shape;266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267" name="Google Shape;267;p29"/>
          <p:cNvGrpSpPr/>
          <p:nvPr/>
        </p:nvGrpSpPr>
        <p:grpSpPr>
          <a:xfrm>
            <a:off x="5733225" y="2944610"/>
            <a:ext cx="2469661" cy="1384500"/>
            <a:chOff x="6038025" y="2598925"/>
            <a:chExt cx="2469661" cy="1384500"/>
          </a:xfrm>
        </p:grpSpPr>
        <p:cxnSp>
          <p:nvCxnSpPr>
            <p:cNvPr id="268" name="Google Shape;268;p29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29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High Manual Workload</a:t>
              </a:r>
              <a:endParaRPr sz="12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800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Thousands of Unity/Jira tickets still require heavy manual triage, causing operational slowdowns.</a:t>
              </a:r>
              <a:endParaRPr sz="8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9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3</a:t>
              </a:r>
              <a:endParaRPr sz="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</p:grpSp>
      <p:grpSp>
        <p:nvGrpSpPr>
          <p:cNvPr id="272" name="Google Shape;272;p29"/>
          <p:cNvGrpSpPr/>
          <p:nvPr/>
        </p:nvGrpSpPr>
        <p:grpSpPr>
          <a:xfrm>
            <a:off x="331521" y="2172128"/>
            <a:ext cx="2994729" cy="1384500"/>
            <a:chOff x="636321" y="1844098"/>
            <a:chExt cx="2994729" cy="1384500"/>
          </a:xfrm>
        </p:grpSpPr>
        <p:sp>
          <p:nvSpPr>
            <p:cNvPr id="273" name="Google Shape;273;p29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Lack of Intelligent Automation</a:t>
              </a:r>
              <a:endParaRPr sz="12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800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Delays, human errors, increased MTTR, and no automated OEM/GDAT validation result from missing automation</a:t>
              </a:r>
              <a:r>
                <a:rPr lang="en" sz="800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  <a:endParaRPr sz="8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cxnSp>
          <p:nvCxnSpPr>
            <p:cNvPr id="274" name="Google Shape;274;p29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5" name="Google Shape;275;p29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9"/>
            <p:cNvSpPr txBox="1"/>
            <p:nvPr/>
          </p:nvSpPr>
          <p:spPr>
            <a:xfrm>
              <a:off x="2498491" y="237375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2</a:t>
              </a:r>
              <a:endParaRPr sz="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</p:grpSp>
      <p:grpSp>
        <p:nvGrpSpPr>
          <p:cNvPr id="277" name="Google Shape;277;p29"/>
          <p:cNvGrpSpPr/>
          <p:nvPr/>
        </p:nvGrpSpPr>
        <p:grpSpPr>
          <a:xfrm>
            <a:off x="4603300" y="1270945"/>
            <a:ext cx="3599586" cy="1384500"/>
            <a:chOff x="4908100" y="889950"/>
            <a:chExt cx="3599586" cy="1384500"/>
          </a:xfrm>
        </p:grpSpPr>
        <p:cxnSp>
          <p:nvCxnSpPr>
            <p:cNvPr id="278" name="Google Shape;278;p29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9" name="Google Shape;279;p29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No Measurable Operational Insights</a:t>
              </a:r>
              <a:endParaRPr sz="12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800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There is no unified system to track ROI or measure the true impact of automation.</a:t>
              </a:r>
              <a:endParaRPr sz="8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9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1</a:t>
              </a:r>
              <a:endParaRPr sz="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</p:grpSp>
      <p:grpSp>
        <p:nvGrpSpPr>
          <p:cNvPr id="282" name="Google Shape;282;p29"/>
          <p:cNvGrpSpPr/>
          <p:nvPr/>
        </p:nvGrpSpPr>
        <p:grpSpPr>
          <a:xfrm>
            <a:off x="2545955" y="1460000"/>
            <a:ext cx="3514811" cy="3252003"/>
            <a:chOff x="2991269" y="1153325"/>
            <a:chExt cx="3514811" cy="3252003"/>
          </a:xfrm>
        </p:grpSpPr>
        <p:sp>
          <p:nvSpPr>
            <p:cNvPr id="283" name="Google Shape;283;p29"/>
            <p:cNvSpPr/>
            <p:nvPr/>
          </p:nvSpPr>
          <p:spPr>
            <a:xfrm>
              <a:off x="3477586" y="2585458"/>
              <a:ext cx="2541910" cy="950456"/>
            </a:xfrm>
            <a:custGeom>
              <a:avLst/>
              <a:gdLst/>
              <a:ahLst/>
              <a:cxnLst/>
              <a:rect l="l" t="t" r="r" b="b"/>
              <a:pathLst>
                <a:path w="126826" h="43529" extrusionOk="0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84" name="Google Shape;284;p29"/>
            <p:cNvSpPr/>
            <p:nvPr/>
          </p:nvSpPr>
          <p:spPr>
            <a:xfrm>
              <a:off x="2991269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85" name="Google Shape;285;p29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86" name="Google Shape;286;p29"/>
            <p:cNvSpPr/>
            <p:nvPr/>
          </p:nvSpPr>
          <p:spPr>
            <a:xfrm>
              <a:off x="3969199" y="2001324"/>
              <a:ext cx="1565850" cy="585863"/>
            </a:xfrm>
            <a:custGeom>
              <a:avLst/>
              <a:gdLst/>
              <a:ahLst/>
              <a:cxnLst/>
              <a:rect l="l" t="t" r="r" b="b"/>
              <a:pathLst>
                <a:path w="24053" h="8150" extrusionOk="0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87" name="Google Shape;287;p29"/>
            <p:cNvSpPr/>
            <p:nvPr/>
          </p:nvSpPr>
          <p:spPr>
            <a:xfrm>
              <a:off x="356325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88" name="Google Shape;288;p29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89" name="Google Shape;289;p29"/>
            <p:cNvSpPr/>
            <p:nvPr/>
          </p:nvSpPr>
          <p:spPr>
            <a:xfrm>
              <a:off x="4059061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0" name="Google Shape;290;p29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>
          <a:extLst>
            <a:ext uri="{FF2B5EF4-FFF2-40B4-BE49-F238E27FC236}">
              <a16:creationId xmlns:a16="http://schemas.microsoft.com/office/drawing/2014/main" id="{0CC746F8-1418-464B-8E99-353641A6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4">
            <a:extLst>
              <a:ext uri="{FF2B5EF4-FFF2-40B4-BE49-F238E27FC236}">
                <a16:creationId xmlns:a16="http://schemas.microsoft.com/office/drawing/2014/main" id="{16E3D075-E1E3-DF63-562E-1BD9C0CF81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Solution Objective</a:t>
            </a:r>
            <a:endParaRPr dirty="0"/>
          </a:p>
        </p:txBody>
      </p:sp>
      <p:sp>
        <p:nvSpPr>
          <p:cNvPr id="540" name="Google Shape;540;p44">
            <a:extLst>
              <a:ext uri="{FF2B5EF4-FFF2-40B4-BE49-F238E27FC236}">
                <a16:creationId xmlns:a16="http://schemas.microsoft.com/office/drawing/2014/main" id="{71994ADD-AA72-1F6C-98A7-D06855DDCC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541" name="Google Shape;541;p44">
            <a:extLst>
              <a:ext uri="{FF2B5EF4-FFF2-40B4-BE49-F238E27FC236}">
                <a16:creationId xmlns:a16="http://schemas.microsoft.com/office/drawing/2014/main" id="{3BCAFD73-816E-94BE-52B9-42EA43B97BCA}"/>
              </a:ext>
            </a:extLst>
          </p:cNvPr>
          <p:cNvGrpSpPr/>
          <p:nvPr/>
        </p:nvGrpSpPr>
        <p:grpSpPr>
          <a:xfrm>
            <a:off x="627767" y="1413043"/>
            <a:ext cx="3608219" cy="3243853"/>
            <a:chOff x="3778727" y="4460423"/>
            <a:chExt cx="720160" cy="647437"/>
          </a:xfrm>
        </p:grpSpPr>
        <p:sp>
          <p:nvSpPr>
            <p:cNvPr id="542" name="Google Shape;542;p44">
              <a:extLst>
                <a:ext uri="{FF2B5EF4-FFF2-40B4-BE49-F238E27FC236}">
                  <a16:creationId xmlns:a16="http://schemas.microsoft.com/office/drawing/2014/main" id="{22EFA4A4-50C9-ADE9-6788-61106DE8A818}"/>
                </a:ext>
              </a:extLst>
            </p:cNvPr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200" b="1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MEASUREMENT</a:t>
              </a:r>
              <a:endParaRPr sz="1200" b="1" i="0" u="none" strike="noStrike" cap="none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43" name="Google Shape;543;p44">
              <a:extLst>
                <a:ext uri="{FF2B5EF4-FFF2-40B4-BE49-F238E27FC236}">
                  <a16:creationId xmlns:a16="http://schemas.microsoft.com/office/drawing/2014/main" id="{C9C83E48-323E-D7E2-766D-9344F90604F0}"/>
                </a:ext>
              </a:extLst>
            </p:cNvPr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100" b="1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SCALABILITY</a:t>
              </a:r>
              <a:endParaRPr sz="1200" b="1" i="0" u="none" strike="noStrike" cap="none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44" name="Google Shape;544;p44">
              <a:extLst>
                <a:ext uri="{FF2B5EF4-FFF2-40B4-BE49-F238E27FC236}">
                  <a16:creationId xmlns:a16="http://schemas.microsoft.com/office/drawing/2014/main" id="{8A066052-E383-514C-9A9C-A39F9B481B3C}"/>
                </a:ext>
              </a:extLst>
            </p:cNvPr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200" b="1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ANALYSIS</a:t>
              </a:r>
              <a:endParaRPr lang="en-US" sz="1200" b="1" i="0" u="none" strike="noStrike" cap="none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45" name="Google Shape;545;p44">
              <a:extLst>
                <a:ext uri="{FF2B5EF4-FFF2-40B4-BE49-F238E27FC236}">
                  <a16:creationId xmlns:a16="http://schemas.microsoft.com/office/drawing/2014/main" id="{0530BCBD-AB62-30E8-00B8-ADD3C1F69976}"/>
                </a:ext>
              </a:extLst>
            </p:cNvPr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200" b="1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DEVELOPMENT</a:t>
              </a:r>
              <a:endParaRPr sz="1200" b="1" i="0" u="none" strike="noStrike" cap="none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46" name="Google Shape;546;p44">
              <a:extLst>
                <a:ext uri="{FF2B5EF4-FFF2-40B4-BE49-F238E27FC236}">
                  <a16:creationId xmlns:a16="http://schemas.microsoft.com/office/drawing/2014/main" id="{5E679259-C546-367E-1432-8A81F1056350}"/>
                </a:ext>
              </a:extLst>
            </p:cNvPr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400"/>
              </a:pPr>
              <a:r>
                <a:rPr lang="en-US" sz="1200" b="1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SELECTION</a:t>
              </a:r>
              <a:endParaRPr sz="1200" b="1" i="0" u="none" strike="noStrike" cap="none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47" name="Google Shape;547;p44">
              <a:extLst>
                <a:ext uri="{FF2B5EF4-FFF2-40B4-BE49-F238E27FC236}">
                  <a16:creationId xmlns:a16="http://schemas.microsoft.com/office/drawing/2014/main" id="{3FE36128-916E-19E2-9828-13D8E752E95B}"/>
                </a:ext>
              </a:extLst>
            </p:cNvPr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200" b="1" dirty="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EXPOSURE</a:t>
              </a:r>
              <a:endParaRPr sz="1200" b="1" i="0" u="none" strike="noStrike" cap="none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48" name="Google Shape;548;p44">
              <a:extLst>
                <a:ext uri="{FF2B5EF4-FFF2-40B4-BE49-F238E27FC236}">
                  <a16:creationId xmlns:a16="http://schemas.microsoft.com/office/drawing/2014/main" id="{2B286C05-D0D3-8BF0-F037-4313F13E282C}"/>
                </a:ext>
              </a:extLst>
            </p:cNvPr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rgbClr val="FFFFFF">
                <a:alpha val="3799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549" name="Google Shape;549;p44">
            <a:extLst>
              <a:ext uri="{FF2B5EF4-FFF2-40B4-BE49-F238E27FC236}">
                <a16:creationId xmlns:a16="http://schemas.microsoft.com/office/drawing/2014/main" id="{434BF602-84A3-B59B-7865-4A4ACAF2FD45}"/>
              </a:ext>
            </a:extLst>
          </p:cNvPr>
          <p:cNvCxnSpPr/>
          <p:nvPr/>
        </p:nvCxnSpPr>
        <p:spPr>
          <a:xfrm>
            <a:off x="4156025" y="1950075"/>
            <a:ext cx="105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50" name="Google Shape;550;p44">
            <a:extLst>
              <a:ext uri="{FF2B5EF4-FFF2-40B4-BE49-F238E27FC236}">
                <a16:creationId xmlns:a16="http://schemas.microsoft.com/office/drawing/2014/main" id="{8E733C71-7182-9C6C-2E98-299130F15E29}"/>
              </a:ext>
            </a:extLst>
          </p:cNvPr>
          <p:cNvSpPr txBox="1"/>
          <p:nvPr/>
        </p:nvSpPr>
        <p:spPr>
          <a:xfrm>
            <a:off x="5274525" y="1778025"/>
            <a:ext cx="365404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Identify repetitive tasks from past ticket patterns.</a:t>
            </a:r>
            <a:endParaRPr sz="10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551" name="Google Shape;551;p44">
            <a:extLst>
              <a:ext uri="{FF2B5EF4-FFF2-40B4-BE49-F238E27FC236}">
                <a16:creationId xmlns:a16="http://schemas.microsoft.com/office/drawing/2014/main" id="{ABD3D7ED-84A0-0C0B-1BAF-EB59B0F92103}"/>
              </a:ext>
            </a:extLst>
          </p:cNvPr>
          <p:cNvCxnSpPr/>
          <p:nvPr/>
        </p:nvCxnSpPr>
        <p:spPr>
          <a:xfrm>
            <a:off x="4000350" y="2431700"/>
            <a:ext cx="12126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52" name="Google Shape;552;p44">
            <a:extLst>
              <a:ext uri="{FF2B5EF4-FFF2-40B4-BE49-F238E27FC236}">
                <a16:creationId xmlns:a16="http://schemas.microsoft.com/office/drawing/2014/main" id="{6BC5C410-2BF3-CCBA-590B-2CB73FE9E58A}"/>
              </a:ext>
            </a:extLst>
          </p:cNvPr>
          <p:cNvSpPr txBox="1"/>
          <p:nvPr/>
        </p:nvSpPr>
        <p:spPr>
          <a:xfrm>
            <a:off x="5274525" y="225964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Prioritize tasks based on volume and impact.</a:t>
            </a:r>
            <a:endParaRPr sz="10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553" name="Google Shape;553;p44">
            <a:extLst>
              <a:ext uri="{FF2B5EF4-FFF2-40B4-BE49-F238E27FC236}">
                <a16:creationId xmlns:a16="http://schemas.microsoft.com/office/drawing/2014/main" id="{98943DB1-B992-2560-E3C4-00A364E0274A}"/>
              </a:ext>
            </a:extLst>
          </p:cNvPr>
          <p:cNvCxnSpPr/>
          <p:nvPr/>
        </p:nvCxnSpPr>
        <p:spPr>
          <a:xfrm>
            <a:off x="3779125" y="2913325"/>
            <a:ext cx="1433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54" name="Google Shape;554;p44">
            <a:extLst>
              <a:ext uri="{FF2B5EF4-FFF2-40B4-BE49-F238E27FC236}">
                <a16:creationId xmlns:a16="http://schemas.microsoft.com/office/drawing/2014/main" id="{77731CFE-FF46-1404-696D-E760461DAE19}"/>
              </a:ext>
            </a:extLst>
          </p:cNvPr>
          <p:cNvSpPr txBox="1"/>
          <p:nvPr/>
        </p:nvSpPr>
        <p:spPr>
          <a:xfrm>
            <a:off x="5274525" y="2741255"/>
            <a:ext cx="311306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Develop automation scripts using Python or PowerShell.</a:t>
            </a:r>
            <a:endParaRPr sz="10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555" name="Google Shape;555;p44">
            <a:extLst>
              <a:ext uri="{FF2B5EF4-FFF2-40B4-BE49-F238E27FC236}">
                <a16:creationId xmlns:a16="http://schemas.microsoft.com/office/drawing/2014/main" id="{7AAB594E-A9E7-A2A6-F65F-FD63185B9055}"/>
              </a:ext>
            </a:extLst>
          </p:cNvPr>
          <p:cNvCxnSpPr/>
          <p:nvPr/>
        </p:nvCxnSpPr>
        <p:spPr>
          <a:xfrm>
            <a:off x="3590675" y="3394925"/>
            <a:ext cx="1622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56" name="Google Shape;556;p44">
            <a:extLst>
              <a:ext uri="{FF2B5EF4-FFF2-40B4-BE49-F238E27FC236}">
                <a16:creationId xmlns:a16="http://schemas.microsoft.com/office/drawing/2014/main" id="{4DDAE226-7754-E40A-C546-5BF1FA5434CA}"/>
              </a:ext>
            </a:extLst>
          </p:cNvPr>
          <p:cNvSpPr txBox="1"/>
          <p:nvPr/>
        </p:nvSpPr>
        <p:spPr>
          <a:xfrm>
            <a:off x="5274525" y="3222870"/>
            <a:ext cx="3065186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Expose automation workflows through secure MCP APIs.</a:t>
            </a:r>
            <a:endParaRPr sz="10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557" name="Google Shape;557;p44">
            <a:extLst>
              <a:ext uri="{FF2B5EF4-FFF2-40B4-BE49-F238E27FC236}">
                <a16:creationId xmlns:a16="http://schemas.microsoft.com/office/drawing/2014/main" id="{38523AD0-4D54-A1ED-B26A-33EF2753BEC6}"/>
              </a:ext>
            </a:extLst>
          </p:cNvPr>
          <p:cNvCxnSpPr/>
          <p:nvPr/>
        </p:nvCxnSpPr>
        <p:spPr>
          <a:xfrm>
            <a:off x="3385825" y="3876550"/>
            <a:ext cx="1827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58" name="Google Shape;558;p44">
            <a:extLst>
              <a:ext uri="{FF2B5EF4-FFF2-40B4-BE49-F238E27FC236}">
                <a16:creationId xmlns:a16="http://schemas.microsoft.com/office/drawing/2014/main" id="{3EFFC746-3C82-C584-19FB-5EE343BE561F}"/>
              </a:ext>
            </a:extLst>
          </p:cNvPr>
          <p:cNvSpPr txBox="1"/>
          <p:nvPr/>
        </p:nvSpPr>
        <p:spPr>
          <a:xfrm>
            <a:off x="5274525" y="3704485"/>
            <a:ext cx="317051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Track time saved and automation efficiency continuously.</a:t>
            </a:r>
            <a:endParaRPr sz="10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559" name="Google Shape;559;p44">
            <a:extLst>
              <a:ext uri="{FF2B5EF4-FFF2-40B4-BE49-F238E27FC236}">
                <a16:creationId xmlns:a16="http://schemas.microsoft.com/office/drawing/2014/main" id="{52F58EA4-F022-C346-7627-1DAF58454F6C}"/>
              </a:ext>
            </a:extLst>
          </p:cNvPr>
          <p:cNvCxnSpPr/>
          <p:nvPr/>
        </p:nvCxnSpPr>
        <p:spPr>
          <a:xfrm>
            <a:off x="3172800" y="4358150"/>
            <a:ext cx="2031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60" name="Google Shape;560;p44">
            <a:extLst>
              <a:ext uri="{FF2B5EF4-FFF2-40B4-BE49-F238E27FC236}">
                <a16:creationId xmlns:a16="http://schemas.microsoft.com/office/drawing/2014/main" id="{64B974BC-B5F6-ACD7-1B7D-788BD4411288}"/>
              </a:ext>
            </a:extLst>
          </p:cNvPr>
          <p:cNvSpPr txBox="1"/>
          <p:nvPr/>
        </p:nvSpPr>
        <p:spPr>
          <a:xfrm>
            <a:off x="5274525" y="4186100"/>
            <a:ext cx="311306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AI improves accuracy and scales automation over time.</a:t>
            </a:r>
            <a:endParaRPr sz="10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4261536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>
          <a:extLst>
            <a:ext uri="{FF2B5EF4-FFF2-40B4-BE49-F238E27FC236}">
              <a16:creationId xmlns:a16="http://schemas.microsoft.com/office/drawing/2014/main" id="{2E1EDF00-708B-4F6A-06B2-D0E1C929F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2">
            <a:extLst>
              <a:ext uri="{FF2B5EF4-FFF2-40B4-BE49-F238E27FC236}">
                <a16:creationId xmlns:a16="http://schemas.microsoft.com/office/drawing/2014/main" id="{52980478-6D3A-F58B-FE81-8516CDEEF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Challenges &amp; Gaps</a:t>
            </a:r>
            <a:endParaRPr dirty="0"/>
          </a:p>
        </p:txBody>
      </p:sp>
      <p:sp>
        <p:nvSpPr>
          <p:cNvPr id="482" name="Google Shape;482;p42">
            <a:extLst>
              <a:ext uri="{FF2B5EF4-FFF2-40B4-BE49-F238E27FC236}">
                <a16:creationId xmlns:a16="http://schemas.microsoft.com/office/drawing/2014/main" id="{6AF39FC4-627D-08A5-8896-0AB1E943D6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483" name="Google Shape;483;p42">
            <a:extLst>
              <a:ext uri="{FF2B5EF4-FFF2-40B4-BE49-F238E27FC236}">
                <a16:creationId xmlns:a16="http://schemas.microsoft.com/office/drawing/2014/main" id="{5F7F872B-0A3F-1A38-693A-177F31582B8B}"/>
              </a:ext>
            </a:extLst>
          </p:cNvPr>
          <p:cNvSpPr/>
          <p:nvPr/>
        </p:nvSpPr>
        <p:spPr>
          <a:xfrm>
            <a:off x="612000" y="1363400"/>
            <a:ext cx="3887700" cy="1584600"/>
          </a:xfrm>
          <a:prstGeom prst="rect">
            <a:avLst/>
          </a:prstGeom>
          <a:solidFill>
            <a:srgbClr val="050060">
              <a:alpha val="17880"/>
            </a:srgbClr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OVERLOAD</a:t>
            </a:r>
            <a:endParaRPr b="1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Manual ticket analysis consumes significant time and effort daily.</a:t>
            </a:r>
            <a:endParaRPr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84" name="Google Shape;484;p42">
            <a:extLst>
              <a:ext uri="{FF2B5EF4-FFF2-40B4-BE49-F238E27FC236}">
                <a16:creationId xmlns:a16="http://schemas.microsoft.com/office/drawing/2014/main" id="{6582C7DA-139D-8D1F-FF77-41500AEC4680}"/>
              </a:ext>
            </a:extLst>
          </p:cNvPr>
          <p:cNvSpPr/>
          <p:nvPr/>
        </p:nvSpPr>
        <p:spPr>
          <a:xfrm>
            <a:off x="4660485" y="1363400"/>
            <a:ext cx="3887700" cy="1584600"/>
          </a:xfrm>
          <a:prstGeom prst="rect">
            <a:avLst/>
          </a:prstGeom>
          <a:solidFill>
            <a:srgbClr val="050060">
              <a:alpha val="17880"/>
            </a:srgbClr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REPETITION</a:t>
            </a:r>
            <a:endParaRPr b="1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Large volumes of repetitive, low-value tasks reduce operational efficiency.</a:t>
            </a:r>
            <a:endParaRPr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85" name="Google Shape;485;p42">
            <a:extLst>
              <a:ext uri="{FF2B5EF4-FFF2-40B4-BE49-F238E27FC236}">
                <a16:creationId xmlns:a16="http://schemas.microsoft.com/office/drawing/2014/main" id="{4D88B8AC-01E2-1C31-AC46-4080C93C8B45}"/>
              </a:ext>
            </a:extLst>
          </p:cNvPr>
          <p:cNvSpPr/>
          <p:nvPr/>
        </p:nvSpPr>
        <p:spPr>
          <a:xfrm>
            <a:off x="612000" y="3121900"/>
            <a:ext cx="3887700" cy="1584600"/>
          </a:xfrm>
          <a:prstGeom prst="rect">
            <a:avLst/>
          </a:prstGeom>
          <a:solidFill>
            <a:srgbClr val="050060">
              <a:alpha val="17880"/>
            </a:srgbClr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OEM and GDAT verification steps slow down ticket processing.</a:t>
            </a:r>
            <a:endParaRPr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Bottlenecks</a:t>
            </a:r>
            <a:endParaRPr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86" name="Google Shape;486;p42">
            <a:extLst>
              <a:ext uri="{FF2B5EF4-FFF2-40B4-BE49-F238E27FC236}">
                <a16:creationId xmlns:a16="http://schemas.microsoft.com/office/drawing/2014/main" id="{0D9C8213-D4B4-F0A1-411F-7BB3830FB2B0}"/>
              </a:ext>
            </a:extLst>
          </p:cNvPr>
          <p:cNvSpPr/>
          <p:nvPr/>
        </p:nvSpPr>
        <p:spPr>
          <a:xfrm>
            <a:off x="4660485" y="3121900"/>
            <a:ext cx="3887700" cy="1584600"/>
          </a:xfrm>
          <a:prstGeom prst="rect">
            <a:avLst/>
          </a:prstGeom>
          <a:solidFill>
            <a:srgbClr val="050060">
              <a:alpha val="17880"/>
            </a:srgbClr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No automated ROI analytics to measure automation effectiveness.</a:t>
            </a:r>
            <a:endParaRPr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 err="1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Blindspots</a:t>
            </a:r>
            <a:endParaRPr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3299246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45E2EC8-C2C4-E400-F16A-5097D4BF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6251EAAD-5014-0A95-8F60-B9F973558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73" y="1208212"/>
            <a:ext cx="7974596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Traditional ticket workflows rely heavily on manual analysis.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Automates task execution end-to-end across enterprise environments.</a:t>
            </a:r>
          </a:p>
        </p:txBody>
      </p:sp>
      <p:sp>
        <p:nvSpPr>
          <p:cNvPr id="4" name="Google Shape;401;p39">
            <a:extLst>
              <a:ext uri="{FF2B5EF4-FFF2-40B4-BE49-F238E27FC236}">
                <a16:creationId xmlns:a16="http://schemas.microsoft.com/office/drawing/2014/main" id="{737D4065-B820-0BED-E38A-D71117EEE7CE}"/>
              </a:ext>
            </a:extLst>
          </p:cNvPr>
          <p:cNvSpPr/>
          <p:nvPr/>
        </p:nvSpPr>
        <p:spPr>
          <a:xfrm>
            <a:off x="3832604" y="3010245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1"/>
                </a:solidFill>
                <a:latin typeface="Muli"/>
                <a:ea typeface="Muli"/>
                <a:cs typeface="Muli"/>
                <a:sym typeface="Muli"/>
              </a:rPr>
              <a:t>Measure</a:t>
            </a:r>
            <a:endParaRPr sz="1000" dirty="0">
              <a:solidFill>
                <a:schemeClr val="accen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" name="Google Shape;406;p39">
            <a:extLst>
              <a:ext uri="{FF2B5EF4-FFF2-40B4-BE49-F238E27FC236}">
                <a16:creationId xmlns:a16="http://schemas.microsoft.com/office/drawing/2014/main" id="{EA23FBD6-D878-948E-EC56-73A39B8FC325}"/>
              </a:ext>
            </a:extLst>
          </p:cNvPr>
          <p:cNvSpPr/>
          <p:nvPr/>
        </p:nvSpPr>
        <p:spPr>
          <a:xfrm>
            <a:off x="3198738" y="3010481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accent1"/>
                </a:solidFill>
                <a:latin typeface="Muli"/>
                <a:ea typeface="Muli"/>
                <a:cs typeface="Muli"/>
                <a:sym typeface="Muli"/>
              </a:rPr>
              <a:t>Automate</a:t>
            </a:r>
            <a:endParaRPr sz="1000" dirty="0">
              <a:solidFill>
                <a:schemeClr val="accen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887CF0BE-8915-36D4-1181-DEFDA2148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Solution Overview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AD4A1755-584B-4C6F-4C76-18424E7C5A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415" name="Google Shape;415;p39"/>
          <p:cNvSpPr txBox="1"/>
          <p:nvPr/>
        </p:nvSpPr>
        <p:spPr>
          <a:xfrm>
            <a:off x="2158376" y="1981731"/>
            <a:ext cx="124949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Extract data intelligently from Unity, GDAT, and OEM sources.</a:t>
            </a:r>
            <a:endParaRPr sz="9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416" name="Google Shape;416;p39"/>
          <p:cNvCxnSpPr/>
          <p:nvPr/>
        </p:nvCxnSpPr>
        <p:spPr>
          <a:xfrm rot="10800000">
            <a:off x="3520634" y="2536462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17" name="Google Shape;417;p39"/>
          <p:cNvSpPr txBox="1"/>
          <p:nvPr/>
        </p:nvSpPr>
        <p:spPr>
          <a:xfrm>
            <a:off x="3481118" y="1981731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Automate selected tasks using scripts exposed through MCP APIs.</a:t>
            </a:r>
            <a:endParaRPr sz="9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27" name="Google Shape;427;p39"/>
          <p:cNvSpPr txBox="1"/>
          <p:nvPr/>
        </p:nvSpPr>
        <p:spPr>
          <a:xfrm>
            <a:off x="2800024" y="3902681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Analyze</a:t>
            </a:r>
            <a:r>
              <a:rPr lang="en-GB" sz="9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 patterns to identify repetitive tickets requiring automation.</a:t>
            </a:r>
            <a:endParaRPr sz="9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428" name="Google Shape;428;p39"/>
          <p:cNvCxnSpPr/>
          <p:nvPr/>
        </p:nvCxnSpPr>
        <p:spPr>
          <a:xfrm rot="10800000">
            <a:off x="4191398" y="3379500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29" name="Google Shape;429;p39"/>
          <p:cNvSpPr txBox="1"/>
          <p:nvPr/>
        </p:nvSpPr>
        <p:spPr>
          <a:xfrm>
            <a:off x="4130419" y="3902681"/>
            <a:ext cx="158480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Measure ROI continuously to track automation impact accurately.</a:t>
            </a:r>
            <a:endParaRPr sz="9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" name="Google Shape;409;p39">
            <a:extLst>
              <a:ext uri="{FF2B5EF4-FFF2-40B4-BE49-F238E27FC236}">
                <a16:creationId xmlns:a16="http://schemas.microsoft.com/office/drawing/2014/main" id="{AC65BF85-5CAD-CB8B-AC1A-DBA7FD3E2384}"/>
              </a:ext>
            </a:extLst>
          </p:cNvPr>
          <p:cNvSpPr/>
          <p:nvPr/>
        </p:nvSpPr>
        <p:spPr>
          <a:xfrm>
            <a:off x="2505785" y="3010481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Analyze</a:t>
            </a:r>
            <a:endParaRPr sz="10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12" name="Google Shape;412;p39"/>
          <p:cNvSpPr/>
          <p:nvPr/>
        </p:nvSpPr>
        <p:spPr>
          <a:xfrm>
            <a:off x="1904759" y="3010481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Extract</a:t>
            </a:r>
            <a:endParaRPr sz="1000" dirty="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426" name="Google Shape;426;p39"/>
          <p:cNvCxnSpPr/>
          <p:nvPr/>
        </p:nvCxnSpPr>
        <p:spPr>
          <a:xfrm rot="10800000">
            <a:off x="2870163" y="3379500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14" name="Google Shape;414;p39"/>
          <p:cNvCxnSpPr/>
          <p:nvPr/>
        </p:nvCxnSpPr>
        <p:spPr>
          <a:xfrm rot="10800000">
            <a:off x="2199399" y="2536462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Google Shape;693;p48">
            <a:extLst>
              <a:ext uri="{FF2B5EF4-FFF2-40B4-BE49-F238E27FC236}">
                <a16:creationId xmlns:a16="http://schemas.microsoft.com/office/drawing/2014/main" id="{4DB32114-E909-6083-A364-1C714256A8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44213" y="4363312"/>
            <a:ext cx="905910" cy="784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76455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24505327-8C3C-AF7E-70A4-DD12FEC34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82D76B0B-779B-1C4A-015D-378E60302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AI connects to Unity API to retrieve 6–12 months of data.</a:t>
            </a:r>
          </a:p>
          <a:p>
            <a:r>
              <a:rPr lang="en-GB" dirty="0"/>
              <a:t>Normalizes and cleans data using pandas.</a:t>
            </a:r>
          </a:p>
          <a:p>
            <a:r>
              <a:rPr lang="en-GB" dirty="0"/>
              <a:t>Tickets stored in PostgreSQL.</a:t>
            </a:r>
          </a:p>
          <a:p>
            <a:pPr marL="101600" indent="0">
              <a:buNone/>
            </a:pPr>
            <a:endParaRPr lang="en-GB" dirty="0"/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FFC29511-8A88-A263-F56F-E6EBBCE96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Step 1: Data Extraction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A1F06374-A71D-9D37-C97E-09B353F37A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2" name="Google Shape;693;p48">
            <a:extLst>
              <a:ext uri="{FF2B5EF4-FFF2-40B4-BE49-F238E27FC236}">
                <a16:creationId xmlns:a16="http://schemas.microsoft.com/office/drawing/2014/main" id="{33BE0177-1580-5111-8555-AD32CC43D6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387" y="826718"/>
            <a:ext cx="905910" cy="784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82;p48">
            <a:extLst>
              <a:ext uri="{FF2B5EF4-FFF2-40B4-BE49-F238E27FC236}">
                <a16:creationId xmlns:a16="http://schemas.microsoft.com/office/drawing/2014/main" id="{55FE66BD-4A4E-CD75-D18D-1A22844AA50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775170" y="4812997"/>
            <a:ext cx="1717628" cy="897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127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37CD0283-BF3A-4CD1-0C41-D0715D8B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F6001A8A-C656-F122-0DB6-04F08195C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NLP using Sentence-BERT + </a:t>
            </a:r>
            <a:r>
              <a:rPr lang="en-GB" dirty="0" err="1"/>
              <a:t>spaCy</a:t>
            </a:r>
            <a:r>
              <a:rPr lang="en-GB" dirty="0"/>
              <a:t>.</a:t>
            </a:r>
          </a:p>
          <a:p>
            <a:r>
              <a:rPr lang="en-GB" dirty="0"/>
              <a:t>Clustering to group related tickets.</a:t>
            </a:r>
          </a:p>
          <a:p>
            <a:r>
              <a:rPr lang="en-GB" dirty="0"/>
              <a:t>Ranking logic identifies top automation candidates.</a:t>
            </a:r>
          </a:p>
          <a:p>
            <a:pPr marL="101600" indent="0">
              <a:buNone/>
            </a:pPr>
            <a:endParaRPr lang="en-GB" dirty="0"/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DEBD34E0-AC10-1E54-CA71-0E4EB89AD5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Step 2: Pattern Recognition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14BD8C3D-306C-8EB8-B6CF-EBEA2B95FA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" name="Google Shape;682;p48">
            <a:extLst>
              <a:ext uri="{FF2B5EF4-FFF2-40B4-BE49-F238E27FC236}">
                <a16:creationId xmlns:a16="http://schemas.microsoft.com/office/drawing/2014/main" id="{43707277-6D5F-0E4C-AC37-EB08D58347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830" y="841737"/>
            <a:ext cx="1717628" cy="89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87;p48">
            <a:extLst>
              <a:ext uri="{FF2B5EF4-FFF2-40B4-BE49-F238E27FC236}">
                <a16:creationId xmlns:a16="http://schemas.microsoft.com/office/drawing/2014/main" id="{9AA859F2-A86F-D581-B48E-4F114AAC93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74906" y="4385650"/>
            <a:ext cx="1019495" cy="1122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7199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F0CDDC2E-A2D2-09AD-3F1A-E1032189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70A72E2C-7107-51FC-EEA5-5A029DB39E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AI generates pseudo-script templates.</a:t>
            </a:r>
          </a:p>
          <a:p>
            <a:r>
              <a:rPr lang="en-GB" dirty="0"/>
              <a:t>Automation deployed to Linux Automation Server.</a:t>
            </a:r>
          </a:p>
          <a:p>
            <a:r>
              <a:rPr lang="en-GB" dirty="0"/>
              <a:t>Scheduled daily using </a:t>
            </a:r>
            <a:r>
              <a:rPr lang="en-GB" dirty="0" err="1"/>
              <a:t>cron</a:t>
            </a:r>
            <a:r>
              <a:rPr lang="en-GB" dirty="0"/>
              <a:t> or Airflow.</a:t>
            </a:r>
          </a:p>
          <a:p>
            <a:pPr marL="101600" indent="0">
              <a:buNone/>
            </a:pPr>
            <a:endParaRPr lang="en-GB" dirty="0"/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F4013502-3C3A-7472-CAD4-CE0B996729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Step 3: AI Script Generation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FD268D46-361C-55BA-5439-05EF563CA4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2" name="Google Shape;687;p48">
            <a:extLst>
              <a:ext uri="{FF2B5EF4-FFF2-40B4-BE49-F238E27FC236}">
                <a16:creationId xmlns:a16="http://schemas.microsoft.com/office/drawing/2014/main" id="{40394E9B-F13D-F8E4-B435-364223A073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3844" y="433200"/>
            <a:ext cx="1019495" cy="112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86;p48">
            <a:extLst>
              <a:ext uri="{FF2B5EF4-FFF2-40B4-BE49-F238E27FC236}">
                <a16:creationId xmlns:a16="http://schemas.microsoft.com/office/drawing/2014/main" id="{37376058-8C55-01C6-3480-5FBE51D4216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52803" y="4635496"/>
            <a:ext cx="673199" cy="775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6495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B7F06BB8-0394-02E8-57DA-AA9A8B4D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72ED135C-D74A-BD04-AAF6-209EA8844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US" dirty="0"/>
              <a:t>AI queries GDAT REST API.</a:t>
            </a:r>
          </a:p>
          <a:p>
            <a:r>
              <a:rPr lang="en-US" dirty="0"/>
              <a:t>Extracts environment (PRD/UAT/DEV).</a:t>
            </a:r>
          </a:p>
          <a:p>
            <a:r>
              <a:rPr lang="en-US" dirty="0"/>
              <a:t>Routes ticket to appropriate OEM environment.</a:t>
            </a:r>
          </a:p>
          <a:p>
            <a:pPr marL="101600" indent="0">
              <a:buNone/>
            </a:pPr>
            <a:endParaRPr lang="en-GB" dirty="0"/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671026AC-11A5-D833-9AC5-788FEFB4C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Step 4: GDAT Validation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F9606895-4A97-4506-5425-288BDDD346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5" name="Google Shape;686;p48">
            <a:extLst>
              <a:ext uri="{FF2B5EF4-FFF2-40B4-BE49-F238E27FC236}">
                <a16:creationId xmlns:a16="http://schemas.microsoft.com/office/drawing/2014/main" id="{6CD33AED-DBBD-D9FC-A676-F0C0CE5AE7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1447" y="896823"/>
            <a:ext cx="673199" cy="775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88;p48">
            <a:extLst>
              <a:ext uri="{FF2B5EF4-FFF2-40B4-BE49-F238E27FC236}">
                <a16:creationId xmlns:a16="http://schemas.microsoft.com/office/drawing/2014/main" id="{2DEC92A1-96F3-ABE0-E089-C57D85BF827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11327" y="4592523"/>
            <a:ext cx="831110" cy="911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6845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CCA1464-6C3D-5EE5-525A-E441F57FD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6ED92973-5E96-B99E-1853-6D84A2709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AI queries OEM 13c API.</a:t>
            </a:r>
          </a:p>
          <a:p>
            <a:r>
              <a:rPr lang="en-GB" dirty="0" err="1"/>
              <a:t>Analyzes</a:t>
            </a:r>
            <a:r>
              <a:rPr lang="en-GB" dirty="0"/>
              <a:t> CPU/tablespace/password metrics.</a:t>
            </a:r>
          </a:p>
          <a:p>
            <a:r>
              <a:rPr lang="en-GB" dirty="0"/>
              <a:t>Performs automatic closure if severity is cleared.</a:t>
            </a:r>
          </a:p>
          <a:p>
            <a:pPr marL="101600" indent="0">
              <a:buNone/>
            </a:pPr>
            <a:endParaRPr lang="en-GB" dirty="0"/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3E67BCA9-B5A4-955E-934A-DB8C7825B3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dirty="0"/>
              <a:t>Step 5: OEM Metric Verification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308B886B-4E1A-C371-F0AB-32EC9FDA39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2" name="Google Shape;688;p48">
            <a:extLst>
              <a:ext uri="{FF2B5EF4-FFF2-40B4-BE49-F238E27FC236}">
                <a16:creationId xmlns:a16="http://schemas.microsoft.com/office/drawing/2014/main" id="{098280C0-2251-B2E2-B480-94230B8968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2523" y="896823"/>
            <a:ext cx="831110" cy="91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89;p48">
            <a:extLst>
              <a:ext uri="{FF2B5EF4-FFF2-40B4-BE49-F238E27FC236}">
                <a16:creationId xmlns:a16="http://schemas.microsoft.com/office/drawing/2014/main" id="{7FE2770E-BE86-F8A8-E0A9-B4ECE491BFA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44558" y="4490924"/>
            <a:ext cx="836651" cy="911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0310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1A67738C-83F3-904D-25D0-C2B1D6B0E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0E30459C-B7F5-513D-200C-8F80FA520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AI queries OEM 13c API.</a:t>
            </a:r>
          </a:p>
          <a:p>
            <a:r>
              <a:rPr lang="en-GB" dirty="0" err="1"/>
              <a:t>Analyzes</a:t>
            </a:r>
            <a:r>
              <a:rPr lang="en-GB" dirty="0"/>
              <a:t> CPU/tablespace/password metrics.</a:t>
            </a:r>
          </a:p>
          <a:p>
            <a:r>
              <a:rPr lang="en-GB" dirty="0"/>
              <a:t>Performs automatic closure if severity is cleared.</a:t>
            </a:r>
          </a:p>
          <a:p>
            <a:pPr marL="101600" indent="0">
              <a:buNone/>
            </a:pPr>
            <a:endParaRPr lang="en-GB" dirty="0"/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022DC18E-ECD1-F3E7-3A0D-B0123DB840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Step 6: Continuous Automation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550222A4-8FC0-A59B-A4AB-29A1460015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4" name="Google Shape;689;p48">
            <a:extLst>
              <a:ext uri="{FF2B5EF4-FFF2-40B4-BE49-F238E27FC236}">
                <a16:creationId xmlns:a16="http://schemas.microsoft.com/office/drawing/2014/main" id="{818F6904-698A-FDA4-21BC-597B409786A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3592" y="774185"/>
            <a:ext cx="836651" cy="911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0811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48800BD-4B6D-261F-EA36-4328DB29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7EA47E83-AC9A-16C8-67D4-4FC2F415143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799" y="1659550"/>
            <a:ext cx="4977735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ROI Formula</a:t>
            </a:r>
            <a:endParaRPr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65879625-2B92-E631-16B1-43471FA696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51274101-7AD9-79B5-5F12-70755D383D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91;p48">
            <a:extLst>
              <a:ext uri="{FF2B5EF4-FFF2-40B4-BE49-F238E27FC236}">
                <a16:creationId xmlns:a16="http://schemas.microsoft.com/office/drawing/2014/main" id="{730338C3-CDBE-935E-B9B0-77F0A2AF906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1093" y="1009052"/>
            <a:ext cx="1380357" cy="1616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3337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554D7A07-367A-56BF-224A-1A1739207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7C1C8E87-7200-C08E-3801-EEE18B194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A = Avg. minutes to manually resolve ticket.</a:t>
            </a:r>
          </a:p>
          <a:p>
            <a:r>
              <a:rPr lang="en-GB" dirty="0"/>
              <a:t>B = Number of such tickets per year.</a:t>
            </a:r>
          </a:p>
          <a:p>
            <a:r>
              <a:rPr lang="en-GB" dirty="0"/>
              <a:t>C = Avg. engineer cost per hour.</a:t>
            </a:r>
          </a:p>
          <a:p>
            <a:r>
              <a:rPr lang="en-GB" dirty="0"/>
              <a:t>Time Saved = (A × B) / 60</a:t>
            </a:r>
          </a:p>
          <a:p>
            <a:r>
              <a:rPr lang="en-GB" dirty="0"/>
              <a:t>Cost Saved = Time Saved × C</a:t>
            </a:r>
          </a:p>
          <a:p>
            <a:pPr marL="101600" indent="0">
              <a:buNone/>
            </a:pPr>
            <a:endParaRPr lang="en-GB" dirty="0"/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B591D403-C6B0-B924-CC33-8D2854648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ROI Formula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59DEA457-9150-5632-4A7B-055C6B97A2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" name="Google Shape;691;p48">
            <a:extLst>
              <a:ext uri="{FF2B5EF4-FFF2-40B4-BE49-F238E27FC236}">
                <a16:creationId xmlns:a16="http://schemas.microsoft.com/office/drawing/2014/main" id="{DAFD1D3C-4B93-6741-10E9-CC8442A7DF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3142" y="946120"/>
            <a:ext cx="777858" cy="910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89;p48">
            <a:extLst>
              <a:ext uri="{FF2B5EF4-FFF2-40B4-BE49-F238E27FC236}">
                <a16:creationId xmlns:a16="http://schemas.microsoft.com/office/drawing/2014/main" id="{03F14A6F-D37D-2315-D2BF-80AF96DC986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1258" y="4374635"/>
            <a:ext cx="836651" cy="911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015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018A99A8-4094-D5F5-E28C-FCFD58823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D176E586-E36A-0644-8B09-81EB151184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A = 10 minutes</a:t>
            </a:r>
          </a:p>
          <a:p>
            <a:r>
              <a:rPr lang="en-GB" dirty="0"/>
              <a:t>B = 3000 tickets</a:t>
            </a:r>
          </a:p>
          <a:p>
            <a:r>
              <a:rPr lang="en-GB" dirty="0"/>
              <a:t>C = ₹600/hour</a:t>
            </a:r>
          </a:p>
          <a:p>
            <a:r>
              <a:rPr lang="en-GB" dirty="0"/>
              <a:t>Time Saved = 500 hours/year</a:t>
            </a:r>
          </a:p>
          <a:p>
            <a:r>
              <a:rPr lang="en-GB" dirty="0"/>
              <a:t>Cost Saved = ₹3,00,000/year</a:t>
            </a:r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8550B562-2054-30AB-9FE9-02872F278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ROI Example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CFCEDCFE-C782-96BD-D0CB-AE28C8A66C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4" name="Google Shape;689;p48">
            <a:extLst>
              <a:ext uri="{FF2B5EF4-FFF2-40B4-BE49-F238E27FC236}">
                <a16:creationId xmlns:a16="http://schemas.microsoft.com/office/drawing/2014/main" id="{9859F301-F325-06DB-44AF-6586EDB231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7327" y="876300"/>
            <a:ext cx="742916" cy="809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1303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AFEC263-021B-3035-F84D-6970187F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ED07BC24-34EF-9680-739A-BEA8FBA23CD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03916" y="1869122"/>
            <a:ext cx="5359401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200" dirty="0"/>
              <a:t>Automation Components</a:t>
            </a:r>
            <a:endParaRPr sz="3200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4423E147-A991-FA17-6A15-5049CEE90A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4C8BEA75-E8CA-DA3D-2836-53727AB43C4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89;p48">
            <a:extLst>
              <a:ext uri="{FF2B5EF4-FFF2-40B4-BE49-F238E27FC236}">
                <a16:creationId xmlns:a16="http://schemas.microsoft.com/office/drawing/2014/main" id="{4F1D3C8D-51E4-7B16-5415-FEECDAD1211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6539" y="1045212"/>
            <a:ext cx="1288601" cy="1403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787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CC06BBC9-F2DD-7BCD-F560-7296C5837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F1BCF416-6731-DD06-E3EA-741329B021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Automation Components</a:t>
            </a:r>
            <a:endParaRPr dirty="0"/>
          </a:p>
        </p:txBody>
      </p:sp>
      <p:sp>
        <p:nvSpPr>
          <p:cNvPr id="296" name="Google Shape;296;p30">
            <a:extLst>
              <a:ext uri="{FF2B5EF4-FFF2-40B4-BE49-F238E27FC236}">
                <a16:creationId xmlns:a16="http://schemas.microsoft.com/office/drawing/2014/main" id="{CF6623B4-F081-16EE-2F54-E37FADF3D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dirty="0">
                <a:latin typeface="Muli"/>
                <a:ea typeface="Muli"/>
                <a:cs typeface="Muli"/>
                <a:sym typeface="Muli"/>
              </a:rPr>
              <a:t>Data Cleaning </a:t>
            </a:r>
            <a:endParaRPr sz="1200" b="1" dirty="0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dirty="0"/>
              <a:t>I</a:t>
            </a:r>
            <a:r>
              <a:rPr lang="en-GB" sz="1200" dirty="0"/>
              <a:t>pandas, PostgreSQL – Used to clean, structure, and normalize large ticket datasets to ensure accurate analysis and automation readiness.</a:t>
            </a:r>
            <a:endParaRPr sz="1200" dirty="0"/>
          </a:p>
        </p:txBody>
      </p: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461AB51C-F15F-816D-B011-B6F9DA46944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80449" y="13525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dirty="0">
                <a:latin typeface="Muli"/>
                <a:ea typeface="Muli"/>
                <a:cs typeface="Muli"/>
                <a:sym typeface="Muli"/>
              </a:rPr>
              <a:t>NLP</a:t>
            </a:r>
            <a:endParaRPr sz="1200" b="1" dirty="0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/>
              <a:t>BERT, </a:t>
            </a:r>
            <a:r>
              <a:rPr lang="en-GB" sz="1200" dirty="0" err="1"/>
              <a:t>spaCy</a:t>
            </a:r>
            <a:r>
              <a:rPr lang="en-GB" sz="1200" dirty="0"/>
              <a:t> – Processes and understands ticket text, extracting patterns and similarities to identify tasks suitable for automation.</a:t>
            </a:r>
            <a:endParaRPr sz="1200" dirty="0"/>
          </a:p>
        </p:txBody>
      </p:sp>
      <p:sp>
        <p:nvSpPr>
          <p:cNvPr id="298" name="Google Shape;298;p30">
            <a:extLst>
              <a:ext uri="{FF2B5EF4-FFF2-40B4-BE49-F238E27FC236}">
                <a16:creationId xmlns:a16="http://schemas.microsoft.com/office/drawing/2014/main" id="{91159BFA-7C6D-D7EC-1E6C-2B7DB790FC7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980348" y="13525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dirty="0">
                <a:latin typeface="Muli"/>
                <a:ea typeface="Muli"/>
                <a:cs typeface="Muli"/>
                <a:sym typeface="Muli"/>
              </a:rPr>
              <a:t>Scheduling</a:t>
            </a:r>
            <a:endParaRPr sz="1200" b="1" dirty="0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/>
              <a:t>Cron, Airflow – Automates routine job execution, ensuring scripts run reliably at scheduled intervals without manual involvement.</a:t>
            </a:r>
            <a:endParaRPr sz="1200" dirty="0"/>
          </a:p>
        </p:txBody>
      </p:sp>
      <p:sp>
        <p:nvSpPr>
          <p:cNvPr id="299" name="Google Shape;299;p30">
            <a:extLst>
              <a:ext uri="{FF2B5EF4-FFF2-40B4-BE49-F238E27FC236}">
                <a16:creationId xmlns:a16="http://schemas.microsoft.com/office/drawing/2014/main" id="{9E387B6A-6829-35CF-FCDA-45F6AAE2E2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300" name="Google Shape;300;p30">
            <a:extLst>
              <a:ext uri="{FF2B5EF4-FFF2-40B4-BE49-F238E27FC236}">
                <a16:creationId xmlns:a16="http://schemas.microsoft.com/office/drawing/2014/main" id="{67EB9842-1071-8CBD-2D2A-F1BD1A28E3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30289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dirty="0">
                <a:latin typeface="Muli"/>
                <a:ea typeface="Muli"/>
                <a:cs typeface="Muli"/>
                <a:sym typeface="Muli"/>
              </a:rPr>
              <a:t>Dashboards</a:t>
            </a:r>
            <a:endParaRPr sz="1200" b="1" dirty="0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/>
              <a:t>Power BI, Tableau – Creates interactive visual reports to monitor automation performance, ticket trends, and ROI insights</a:t>
            </a:r>
            <a:endParaRPr sz="1200" dirty="0"/>
          </a:p>
        </p:txBody>
      </p:sp>
      <p:sp>
        <p:nvSpPr>
          <p:cNvPr id="301" name="Google Shape;301;p30">
            <a:extLst>
              <a:ext uri="{FF2B5EF4-FFF2-40B4-BE49-F238E27FC236}">
                <a16:creationId xmlns:a16="http://schemas.microsoft.com/office/drawing/2014/main" id="{EAE867CB-198E-CBAA-D839-4AB0E704C19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80449" y="30289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dirty="0">
                <a:latin typeface="Muli"/>
                <a:ea typeface="Muli"/>
                <a:cs typeface="Muli"/>
                <a:sym typeface="Muli"/>
              </a:rPr>
              <a:t>Security</a:t>
            </a:r>
            <a:endParaRPr sz="1200" b="1" dirty="0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/>
              <a:t>CyberArk – Protects credentials and manages secure access for automation scripts interacting with enterprise systems.</a:t>
            </a:r>
            <a:endParaRPr sz="1200" dirty="0"/>
          </a:p>
        </p:txBody>
      </p:sp>
      <p:sp>
        <p:nvSpPr>
          <p:cNvPr id="302" name="Google Shape;302;p30">
            <a:extLst>
              <a:ext uri="{FF2B5EF4-FFF2-40B4-BE49-F238E27FC236}">
                <a16:creationId xmlns:a16="http://schemas.microsoft.com/office/drawing/2014/main" id="{3832657C-F3E5-2496-5815-56AF131234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980348" y="30289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dirty="0">
                <a:latin typeface="Muli"/>
                <a:ea typeface="Muli"/>
                <a:cs typeface="Muli"/>
                <a:sym typeface="Muli"/>
              </a:rPr>
              <a:t>CI/CD </a:t>
            </a:r>
            <a:endParaRPr sz="1200" b="1" dirty="0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/>
              <a:t>GitLab, Jenkins – Provides automated build, testing, and deployment pipelines to continuously deliver updated automation scripts.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360970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1724C9AF-F0AF-1D36-CA4F-9C65E9A0E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>
            <a:extLst>
              <a:ext uri="{FF2B5EF4-FFF2-40B4-BE49-F238E27FC236}">
                <a16:creationId xmlns:a16="http://schemas.microsoft.com/office/drawing/2014/main" id="{D8403EDB-1CB6-CEF4-DEE8-F16E71A0F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Solution Workflow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8957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B26AA56E-D27B-B9A2-07E0-2AD88FE7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BE2B9049-C001-8CF6-2F52-0B274D461A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Automated ticket intelligence.</a:t>
            </a:r>
          </a:p>
          <a:p>
            <a:r>
              <a:rPr lang="en-GB" dirty="0"/>
              <a:t>Reduced manual repetitive work.</a:t>
            </a:r>
          </a:p>
          <a:p>
            <a:r>
              <a:rPr lang="en-GB" dirty="0"/>
              <a:t>Faster OEM/GDAT verification.</a:t>
            </a:r>
          </a:p>
          <a:p>
            <a:r>
              <a:rPr lang="en-GB" dirty="0"/>
              <a:t>Real-time ROI tracking.</a:t>
            </a:r>
          </a:p>
          <a:p>
            <a:r>
              <a:rPr lang="en-GB" dirty="0"/>
              <a:t>Scalable AI-driven operations.</a:t>
            </a:r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928F554C-CB53-048D-4EBA-7D3086D71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Expected Benefits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4B24A4D1-2338-FD8C-6121-820F874E01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2" name="Google Shape;684;p48">
            <a:extLst>
              <a:ext uri="{FF2B5EF4-FFF2-40B4-BE49-F238E27FC236}">
                <a16:creationId xmlns:a16="http://schemas.microsoft.com/office/drawing/2014/main" id="{42ABD593-FB4E-CCCF-7BB0-5AF6ABB284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4433" y="957598"/>
            <a:ext cx="493125" cy="687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2469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7D5119B-8993-DA96-7373-23A14A8C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32D462DD-9445-419C-9911-24EC2BEA1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433042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buNone/>
            </a:pPr>
            <a:endParaRPr lang="en-GB" dirty="0"/>
          </a:p>
          <a:p>
            <a:r>
              <a:rPr lang="en-GB" dirty="0"/>
              <a:t>Project Forge transforms repetitive DBA tasks into an AI-driven workflow.</a:t>
            </a:r>
          </a:p>
          <a:p>
            <a:r>
              <a:rPr lang="en-GB" dirty="0"/>
              <a:t>Provides measurable ROI and improved operational efficiency.</a:t>
            </a:r>
          </a:p>
          <a:p>
            <a:r>
              <a:rPr lang="en-GB" dirty="0"/>
              <a:t>Scalable to other IT domains beyond DBA.</a:t>
            </a:r>
          </a:p>
        </p:txBody>
      </p:sp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85EB81A0-CAF1-3723-DC8A-C7CD8ACD3A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73" y="635850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FA8E0DA8-CE27-45C5-9689-2C46605AE2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3" name="Google Shape;679;p48">
            <a:extLst>
              <a:ext uri="{FF2B5EF4-FFF2-40B4-BE49-F238E27FC236}">
                <a16:creationId xmlns:a16="http://schemas.microsoft.com/office/drawing/2014/main" id="{765A7E1E-4F87-290F-3AA0-BBF9D7F64A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365" y="635850"/>
            <a:ext cx="1217100" cy="1387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5702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368" name="Google Shape;368;p35"/>
          <p:cNvSpPr txBox="1">
            <a:spLocks noGrp="1"/>
          </p:cNvSpPr>
          <p:nvPr>
            <p:ph type="ctrTitle" idx="4294967295"/>
          </p:nvPr>
        </p:nvSpPr>
        <p:spPr>
          <a:xfrm>
            <a:off x="685800" y="1341750"/>
            <a:ext cx="3617400" cy="92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</p:txBody>
      </p:sp>
      <p:pic>
        <p:nvPicPr>
          <p:cNvPr id="370" name="Google Shape;3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900" y="2681025"/>
            <a:ext cx="3171324" cy="18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014" y="1914980"/>
            <a:ext cx="548700" cy="159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6909" y="581600"/>
            <a:ext cx="1279700" cy="149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818</Words>
  <Application>Microsoft Office PowerPoint</Application>
  <PresentationFormat>On-screen Show (16:9)</PresentationFormat>
  <Paragraphs>164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Lexend Deca</vt:lpstr>
      <vt:lpstr>Arial</vt:lpstr>
      <vt:lpstr>Muli</vt:lpstr>
      <vt:lpstr>Aliena template</vt:lpstr>
      <vt:lpstr>QUANTA  (data + intelligence)  Quantum Unified Automation for Next-Gen Ticket Analysis </vt:lpstr>
      <vt:lpstr>Hello!</vt:lpstr>
      <vt:lpstr>PowerPoint Presentation</vt:lpstr>
      <vt:lpstr>Executive Summary</vt:lpstr>
      <vt:lpstr>Executive Summary</vt:lpstr>
      <vt:lpstr>Introduction</vt:lpstr>
      <vt:lpstr>Introduction</vt:lpstr>
      <vt:lpstr>Problem Statement</vt:lpstr>
      <vt:lpstr>Solution Objective</vt:lpstr>
      <vt:lpstr>Challenges &amp; Gaps</vt:lpstr>
      <vt:lpstr>Solution Overview</vt:lpstr>
      <vt:lpstr>Step 1: Data Extraction</vt:lpstr>
      <vt:lpstr>Step 2: Pattern Recognition</vt:lpstr>
      <vt:lpstr>Step 3: AI Script Generation</vt:lpstr>
      <vt:lpstr>Step 4: GDAT Validation</vt:lpstr>
      <vt:lpstr>Step 5: OEM Metric Verification</vt:lpstr>
      <vt:lpstr>Step 6: Continuous Automation</vt:lpstr>
      <vt:lpstr>ROI Formula</vt:lpstr>
      <vt:lpstr>ROI Formula</vt:lpstr>
      <vt:lpstr>ROI Example</vt:lpstr>
      <vt:lpstr>Automation Components</vt:lpstr>
      <vt:lpstr>Automation Components</vt:lpstr>
      <vt:lpstr>Solution Workflow</vt:lpstr>
      <vt:lpstr>Expected Benefits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jithu paul</dc:creator>
  <cp:lastModifiedBy>jithu paul</cp:lastModifiedBy>
  <cp:revision>1</cp:revision>
  <dcterms:modified xsi:type="dcterms:W3CDTF">2025-11-26T15:34:16Z</dcterms:modified>
</cp:coreProperties>
</file>