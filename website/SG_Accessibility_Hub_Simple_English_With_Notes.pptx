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654"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300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Opening: Explain that this is not a new expensive accessibility product. It is a single internal front door that makes existing support easier to find and request. The first focus is Deaf/Hard-of-Hearing employees because they are a major part of the PwD community, while the design can later support all PwD groups.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Talk about the real-life experience rather than technology. The goal is to reduce effort for the employee and the manager. Do not say the current process is bad; say the Hub can make existing processes easier, clearer and more visible.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Use this slide as the main product definition. The employee should not need to know which internal team owns a request. They start at the Accessibility Hub, and the workflow routes the request to the right team.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Demo idea: open the home page and ask the audience: 'If I need an interpreter tomorrow, where would I click?' The answer should be obvious. This page is the starting point for every other feature.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Explain that this is more than a form. The value is visibility. Employees can see what is happening after they submit. Recurring requests are especially useful for regular team meetings. Pre-brief material can help interpreters understand banking or technical terms before a meeting.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Important: The Hub is not replacing Teams. It is making Teams accessibility easier to discover and use. The videos can be very short, for example 30–90 seconds. An interpreter can demonstrate the steps. Because SG already has Copilot, do not propose building another AI assistant here. Copilot can be referenced as an existing approved tool where relevant.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This is the simplified passport. The purpose is to help colleagues understand how to communicate effectively, not to create a medical record. The Teams status idea is useful because it can make a preference visible before someone starts a conversation. During design, confirm exactly what Teams integration is allowed by SG IT/security.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This is deliberately simple. It does not require AI. It can be a small library of approved phrases. The goal is to help employees communicate quickly during meetings without feeling uncomfortable.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This makes the product broader than a Deaf-only portal. The same request model can support different disabilities. Start with the accommodation types that SG already handles, then expand based on real demand. Avoid collecting medical evidence unless the existing company process requires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The important change is from 'someone complained' to 'there is a trackable accessibility issue'. Over time, the data can show repeated problems and help teams decide what to fix first.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This feature needs close coordination with Facilities, Security and existing emergency systems. The Hub should not become the emergency alarm system unless approved and technically integrated. It can start as a place to show emergency guidance, contacts and accessibility procedures.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This can begin very simply as a directory. We do not need indoor navigation on day one. The first goal is to answer: 'Which room has the features I need?'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The toolkit is low-cost because it is mainly curated information. For ISL, start with a small number of useful workplace signs. The manager guide is important because accessibility is not only an employee responsibility.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The community section is not required for the first MVP. It can be added after the core request and support functions are working. Its purpose is to improve belonging and make accessibility a shared workplace culture.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The manager view should be action-focused. A manager does not need to know a person's full medical history. They need to know what workplace support is required and what action they must take. Role-based access is important.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These numbers are examples only, not real SG data. Replace them with actual data once the system exists. The strongest management metric is unmet need: requests not fulfilled, barriers still open, or support delivered too late.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This is the cost-control slide. The proposal is not asking for a large new platform budget. The Hub is mainly a front end and workflow layer that connects employees to tools and processes SG already owns. Any integration must follow SG IT, security, privacy and architecture standards.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Recommend Phase 1 as the proposal for approval. Do not promise all 20 features immediately. The first goal is to build a small working product, test it with Deaf/HoH employees and other PwD colleagues, collect feedback, and then decide what deserves Phase 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This is the co-design principle. The people who use the product should test it before launch. Include Deaf/HoH employees, and where possible people with visual, mobility and other accessibility needs. Also ask SG privacy/security teams to review the design early, not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Closing message: The Accessibility Hub is not meant to replace existing teams or systems. It is a simple front door that makes those services easier to find, request and track. The first release can focus on the highest-value needs for Deaf/HoH employees, then expand to all PwD groups based on real feedback and usage.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188720"/>
            <a:ext cx="9875520" cy="1828800"/>
          </a:xfrm>
          <a:prstGeom prst="rect">
            <a:avLst/>
          </a:prstGeom>
          <a:noFill/>
        </p:spPr>
        <p:txBody>
          <a:bodyPr wrap="none">
            <a:spAutoFit/>
          </a:bodyPr>
          <a:lstStyle/>
          <a:p>
            <a:pPr>
              <a:defRPr sz="4800" b="1">
                <a:solidFill>
                  <a:srgbClr val="FFFFFF"/>
                </a:solidFill>
              </a:defRPr>
            </a:pPr>
            <a:r>
              <a:t>Accessibility Hub</a:t>
            </a:r>
          </a:p>
          <a:p>
            <a:pPr>
              <a:spcBef>
                <a:spcPts val="1200"/>
              </a:spcBef>
              <a:defRPr sz="2400">
                <a:solidFill>
                  <a:srgbClr val="CDDAEE"/>
                </a:solidFill>
              </a:defRPr>
            </a:pPr>
            <a:r>
              <a:t>A simple, low-cost support platform for PwD employees</a:t>
            </a:r>
          </a:p>
          <a:p>
            <a:pPr>
              <a:spcBef>
                <a:spcPts val="1600"/>
              </a:spcBef>
              <a:defRPr sz="1600">
                <a:solidFill>
                  <a:srgbClr val="B4C7E1"/>
                </a:solidFill>
              </a:defRPr>
            </a:pPr>
            <a:r>
              <a:t>Deaf / Hard-of-Hearing first • Designed to expand to all disability groups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What problem are we solving?</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THE NEED</a:t>
            </a:r>
          </a:p>
        </p:txBody>
      </p:sp>
      <p:sp>
        <p:nvSpPr>
          <p:cNvPr id="6" name="TextBox 5"/>
          <p:cNvSpPr txBox="1"/>
          <p:nvPr/>
        </p:nvSpPr>
        <p:spPr>
          <a:xfrm>
            <a:off x="731520" y="1143000"/>
            <a:ext cx="10698480" cy="5029200"/>
          </a:xfrm>
          <a:prstGeom prst="rect">
            <a:avLst/>
          </a:prstGeom>
          <a:noFill/>
        </p:spPr>
        <p:txBody>
          <a:bodyPr wrap="square">
            <a:spAutoFit/>
          </a:bodyPr>
          <a:lstStyle/>
          <a:p>
            <a:pPr>
              <a:spcAft>
                <a:spcPts val="800"/>
              </a:spcAft>
              <a:defRPr sz="1800">
                <a:solidFill>
                  <a:srgbClr val="1E2733"/>
                </a:solidFill>
              </a:defRPr>
            </a:pPr>
            <a:r>
              <a:t>Employees may not know where to request accessibility support.</a:t>
            </a:r>
          </a:p>
          <a:p>
            <a:pPr>
              <a:spcAft>
                <a:spcPts val="800"/>
              </a:spcAft>
              <a:defRPr sz="1800">
                <a:solidFill>
                  <a:srgbClr val="1E2733"/>
                </a:solidFill>
              </a:defRPr>
            </a:pPr>
            <a:r>
              <a:t>Interpreter requests can require repeated coordination.</a:t>
            </a:r>
          </a:p>
          <a:p>
            <a:pPr>
              <a:spcAft>
                <a:spcPts val="800"/>
              </a:spcAft>
              <a:defRPr sz="1800">
                <a:solidFill>
                  <a:srgbClr val="1E2733"/>
                </a:solidFill>
              </a:defRPr>
            </a:pPr>
            <a:r>
              <a:t>Meeting accessibility steps are not always easy to find.</a:t>
            </a:r>
          </a:p>
          <a:p>
            <a:pPr>
              <a:spcAft>
                <a:spcPts val="800"/>
              </a:spcAft>
              <a:defRPr sz="1800">
                <a:solidFill>
                  <a:srgbClr val="1E2733"/>
                </a:solidFill>
              </a:defRPr>
            </a:pPr>
            <a:r>
              <a:t>Employees may need to explain the same communication preference again and again.</a:t>
            </a:r>
          </a:p>
          <a:p>
            <a:pPr>
              <a:spcAft>
                <a:spcPts val="800"/>
              </a:spcAft>
              <a:defRPr sz="1800">
                <a:solidFill>
                  <a:srgbClr val="1E2733"/>
                </a:solidFill>
              </a:defRPr>
            </a:pPr>
            <a:r>
              <a:t>Accessibility problems can be reported through different channels and become difficult to track.</a:t>
            </a:r>
          </a:p>
          <a:p>
            <a:pPr>
              <a:spcAft>
                <a:spcPts val="800"/>
              </a:spcAft>
              <a:defRPr sz="1800">
                <a:solidFill>
                  <a:srgbClr val="1E2733"/>
                </a:solidFill>
              </a:defRPr>
            </a:pPr>
            <a:r>
              <a:t>Managers may not know what action they need to take.</a:t>
            </a:r>
          </a:p>
        </p:txBody>
      </p:sp>
      <p:sp>
        <p:nvSpPr>
          <p:cNvPr id="7" name="TextBox 6"/>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The simple idea</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ONE FRONT DOOR</a:t>
            </a:r>
          </a:p>
        </p:txBody>
      </p:sp>
      <p:sp>
        <p:nvSpPr>
          <p:cNvPr id="6" name="Rounded Rectangle 5"/>
          <p:cNvSpPr/>
          <p:nvPr/>
        </p:nvSpPr>
        <p:spPr>
          <a:xfrm>
            <a:off x="685800" y="1188720"/>
            <a:ext cx="3429000" cy="16459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188720"/>
            <a:ext cx="64008" cy="164592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325880"/>
            <a:ext cx="3063240" cy="365760"/>
          </a:xfrm>
          <a:prstGeom prst="rect">
            <a:avLst/>
          </a:prstGeom>
          <a:noFill/>
        </p:spPr>
        <p:txBody>
          <a:bodyPr wrap="none">
            <a:spAutoFit/>
          </a:bodyPr>
          <a:lstStyle/>
          <a:p>
            <a:pPr>
              <a:defRPr sz="1600" b="1">
                <a:solidFill>
                  <a:srgbClr val="162642"/>
                </a:solidFill>
              </a:defRPr>
            </a:pPr>
            <a:r>
              <a:t>REQUEST</a:t>
            </a:r>
          </a:p>
        </p:txBody>
      </p:sp>
      <p:sp>
        <p:nvSpPr>
          <p:cNvPr id="9" name="TextBox 8"/>
          <p:cNvSpPr txBox="1"/>
          <p:nvPr/>
        </p:nvSpPr>
        <p:spPr>
          <a:xfrm>
            <a:off x="886968" y="1783080"/>
            <a:ext cx="2502929" cy="477054"/>
          </a:xfrm>
          <a:prstGeom prst="rect">
            <a:avLst/>
          </a:prstGeom>
          <a:noFill/>
        </p:spPr>
        <p:txBody>
          <a:bodyPr wrap="none">
            <a:spAutoFit/>
          </a:bodyPr>
          <a:lstStyle/>
          <a:p>
            <a:pPr>
              <a:defRPr sz="1250">
                <a:solidFill>
                  <a:srgbClr val="1E2733"/>
                </a:solidFill>
              </a:defRPr>
            </a:pPr>
            <a:r>
              <a:rPr dirty="0"/>
              <a:t>Get interpreter, accommodation or </a:t>
            </a:r>
            <a:br>
              <a:rPr lang="en-IN" dirty="0"/>
            </a:br>
            <a:r>
              <a:rPr dirty="0"/>
              <a:t>other accessibility support.</a:t>
            </a:r>
          </a:p>
        </p:txBody>
      </p:sp>
      <p:sp>
        <p:nvSpPr>
          <p:cNvPr id="10" name="Rounded Rectangle 9"/>
          <p:cNvSpPr/>
          <p:nvPr/>
        </p:nvSpPr>
        <p:spPr>
          <a:xfrm>
            <a:off x="4389120" y="1188720"/>
            <a:ext cx="3429000" cy="16459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188720"/>
            <a:ext cx="64008" cy="164592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325880"/>
            <a:ext cx="3063240" cy="365760"/>
          </a:xfrm>
          <a:prstGeom prst="rect">
            <a:avLst/>
          </a:prstGeom>
          <a:noFill/>
        </p:spPr>
        <p:txBody>
          <a:bodyPr wrap="none">
            <a:spAutoFit/>
          </a:bodyPr>
          <a:lstStyle/>
          <a:p>
            <a:pPr>
              <a:defRPr sz="1600" b="1">
                <a:solidFill>
                  <a:srgbClr val="162642"/>
                </a:solidFill>
              </a:defRPr>
            </a:pPr>
            <a:r>
              <a:t>COMMUNICATE</a:t>
            </a:r>
          </a:p>
        </p:txBody>
      </p:sp>
      <p:sp>
        <p:nvSpPr>
          <p:cNvPr id="13" name="TextBox 12"/>
          <p:cNvSpPr txBox="1"/>
          <p:nvPr/>
        </p:nvSpPr>
        <p:spPr>
          <a:xfrm>
            <a:off x="4590288" y="1783080"/>
            <a:ext cx="2579873" cy="477054"/>
          </a:xfrm>
          <a:prstGeom prst="rect">
            <a:avLst/>
          </a:prstGeom>
          <a:noFill/>
        </p:spPr>
        <p:txBody>
          <a:bodyPr wrap="none">
            <a:spAutoFit/>
          </a:bodyPr>
          <a:lstStyle/>
          <a:p>
            <a:pPr>
              <a:defRPr sz="1250">
                <a:solidFill>
                  <a:srgbClr val="1E2733"/>
                </a:solidFill>
              </a:defRPr>
            </a:pPr>
            <a:r>
              <a:rPr dirty="0"/>
              <a:t>Use captions, meeting guidance and </a:t>
            </a:r>
            <a:br>
              <a:rPr lang="en-IN" dirty="0"/>
            </a:br>
            <a:r>
              <a:rPr dirty="0"/>
              <a:t>communication preferences.</a:t>
            </a:r>
          </a:p>
        </p:txBody>
      </p:sp>
      <p:sp>
        <p:nvSpPr>
          <p:cNvPr id="14" name="Rounded Rectangle 13"/>
          <p:cNvSpPr/>
          <p:nvPr/>
        </p:nvSpPr>
        <p:spPr>
          <a:xfrm>
            <a:off x="8092440" y="1188720"/>
            <a:ext cx="3429000" cy="16459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188720"/>
            <a:ext cx="64008" cy="1645920"/>
          </a:xfrm>
          <a:prstGeom prst="rect">
            <a:avLst/>
          </a:prstGeom>
          <a:solidFill>
            <a:srgbClr val="DD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325880"/>
            <a:ext cx="3063240" cy="365760"/>
          </a:xfrm>
          <a:prstGeom prst="rect">
            <a:avLst/>
          </a:prstGeom>
          <a:noFill/>
        </p:spPr>
        <p:txBody>
          <a:bodyPr wrap="none">
            <a:spAutoFit/>
          </a:bodyPr>
          <a:lstStyle/>
          <a:p>
            <a:pPr>
              <a:defRPr sz="1600" b="1">
                <a:solidFill>
                  <a:srgbClr val="162642"/>
                </a:solidFill>
              </a:defRPr>
            </a:pPr>
            <a:r>
              <a:t>REPORT</a:t>
            </a:r>
          </a:p>
        </p:txBody>
      </p:sp>
      <p:sp>
        <p:nvSpPr>
          <p:cNvPr id="17" name="TextBox 16"/>
          <p:cNvSpPr txBox="1"/>
          <p:nvPr/>
        </p:nvSpPr>
        <p:spPr>
          <a:xfrm>
            <a:off x="8293608" y="1783080"/>
            <a:ext cx="2266198" cy="477054"/>
          </a:xfrm>
          <a:prstGeom prst="rect">
            <a:avLst/>
          </a:prstGeom>
          <a:noFill/>
        </p:spPr>
        <p:txBody>
          <a:bodyPr wrap="none">
            <a:spAutoFit/>
          </a:bodyPr>
          <a:lstStyle/>
          <a:p>
            <a:pPr>
              <a:defRPr sz="1250">
                <a:solidFill>
                  <a:srgbClr val="1E2733"/>
                </a:solidFill>
              </a:defRPr>
            </a:pPr>
            <a:r>
              <a:rPr dirty="0"/>
              <a:t>Report accessibility barriers and</a:t>
            </a:r>
            <a:br>
              <a:rPr lang="en-IN" dirty="0"/>
            </a:br>
            <a:r>
              <a:rPr dirty="0"/>
              <a:t> follow progress.</a:t>
            </a:r>
          </a:p>
        </p:txBody>
      </p:sp>
      <p:sp>
        <p:nvSpPr>
          <p:cNvPr id="18" name="Rounded Rectangle 17"/>
          <p:cNvSpPr/>
          <p:nvPr/>
        </p:nvSpPr>
        <p:spPr>
          <a:xfrm>
            <a:off x="2514600" y="3474720"/>
            <a:ext cx="3429000" cy="16459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4600" y="3474720"/>
            <a:ext cx="64008" cy="164592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15768" y="3611879"/>
            <a:ext cx="3063240" cy="365760"/>
          </a:xfrm>
          <a:prstGeom prst="rect">
            <a:avLst/>
          </a:prstGeom>
          <a:noFill/>
        </p:spPr>
        <p:txBody>
          <a:bodyPr wrap="none">
            <a:spAutoFit/>
          </a:bodyPr>
          <a:lstStyle/>
          <a:p>
            <a:pPr>
              <a:defRPr sz="1600" b="1">
                <a:solidFill>
                  <a:srgbClr val="162642"/>
                </a:solidFill>
              </a:defRPr>
            </a:pPr>
            <a:r>
              <a:t>LEARN</a:t>
            </a:r>
          </a:p>
        </p:txBody>
      </p:sp>
      <p:sp>
        <p:nvSpPr>
          <p:cNvPr id="21" name="TextBox 20"/>
          <p:cNvSpPr txBox="1"/>
          <p:nvPr/>
        </p:nvSpPr>
        <p:spPr>
          <a:xfrm>
            <a:off x="2715768" y="4069080"/>
            <a:ext cx="1911101" cy="477054"/>
          </a:xfrm>
          <a:prstGeom prst="rect">
            <a:avLst/>
          </a:prstGeom>
          <a:noFill/>
        </p:spPr>
        <p:txBody>
          <a:bodyPr wrap="none">
            <a:spAutoFit/>
          </a:bodyPr>
          <a:lstStyle/>
          <a:p>
            <a:pPr>
              <a:defRPr sz="1250">
                <a:solidFill>
                  <a:srgbClr val="1E2733"/>
                </a:solidFill>
              </a:defRPr>
            </a:pPr>
            <a:r>
              <a:rPr dirty="0"/>
              <a:t>Find Teams, Windows, ISL </a:t>
            </a:r>
            <a:br>
              <a:rPr lang="en-IN" dirty="0"/>
            </a:br>
            <a:r>
              <a:rPr dirty="0"/>
              <a:t>and accessibility guidance.</a:t>
            </a:r>
          </a:p>
        </p:txBody>
      </p:sp>
      <p:sp>
        <p:nvSpPr>
          <p:cNvPr id="22" name="Rounded Rectangle 21"/>
          <p:cNvSpPr/>
          <p:nvPr/>
        </p:nvSpPr>
        <p:spPr>
          <a:xfrm>
            <a:off x="6217920" y="3474720"/>
            <a:ext cx="3429000" cy="16459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3474720"/>
            <a:ext cx="64008" cy="1645920"/>
          </a:xfrm>
          <a:prstGeom prst="rect">
            <a:avLst/>
          </a:prstGeom>
          <a:solidFill>
            <a:srgbClr val="C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9088" y="3611879"/>
            <a:ext cx="3063240" cy="365760"/>
          </a:xfrm>
          <a:prstGeom prst="rect">
            <a:avLst/>
          </a:prstGeom>
          <a:noFill/>
        </p:spPr>
        <p:txBody>
          <a:bodyPr wrap="none">
            <a:spAutoFit/>
          </a:bodyPr>
          <a:lstStyle/>
          <a:p>
            <a:pPr>
              <a:defRPr sz="1600" b="1">
                <a:solidFill>
                  <a:srgbClr val="162642"/>
                </a:solidFill>
              </a:defRPr>
            </a:pPr>
            <a:r>
              <a:t>MEASURE</a:t>
            </a:r>
          </a:p>
        </p:txBody>
      </p:sp>
      <p:sp>
        <p:nvSpPr>
          <p:cNvPr id="25" name="TextBox 24"/>
          <p:cNvSpPr txBox="1"/>
          <p:nvPr/>
        </p:nvSpPr>
        <p:spPr>
          <a:xfrm>
            <a:off x="6419088" y="4069080"/>
            <a:ext cx="1809534" cy="477054"/>
          </a:xfrm>
          <a:prstGeom prst="rect">
            <a:avLst/>
          </a:prstGeom>
          <a:noFill/>
        </p:spPr>
        <p:txBody>
          <a:bodyPr wrap="none">
            <a:spAutoFit/>
          </a:bodyPr>
          <a:lstStyle/>
          <a:p>
            <a:pPr>
              <a:defRPr sz="1250">
                <a:solidFill>
                  <a:srgbClr val="1E2733"/>
                </a:solidFill>
              </a:defRPr>
            </a:pPr>
            <a:r>
              <a:rPr dirty="0"/>
              <a:t>See requests, fulfilment, </a:t>
            </a:r>
            <a:br>
              <a:rPr lang="en-IN" dirty="0"/>
            </a:br>
            <a:r>
              <a:rPr dirty="0"/>
              <a:t>issues and unmet needs.</a:t>
            </a:r>
          </a:p>
        </p:txBody>
      </p:sp>
      <p:sp>
        <p:nvSpPr>
          <p:cNvPr id="26" name="TextBox 25"/>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1. Home Dashboard</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EMPLOYEE</a:t>
            </a:r>
          </a:p>
        </p:txBody>
      </p:sp>
      <p:sp>
        <p:nvSpPr>
          <p:cNvPr id="6" name="TextBox 5"/>
          <p:cNvSpPr txBox="1"/>
          <p:nvPr/>
        </p:nvSpPr>
        <p:spPr>
          <a:xfrm>
            <a:off x="685800" y="1143000"/>
            <a:ext cx="6675120" cy="5029200"/>
          </a:xfrm>
          <a:prstGeom prst="rect">
            <a:avLst/>
          </a:prstGeom>
          <a:noFill/>
        </p:spPr>
        <p:txBody>
          <a:bodyPr wrap="square">
            <a:spAutoFit/>
          </a:bodyPr>
          <a:lstStyle/>
          <a:p>
            <a:pPr>
              <a:spcAft>
                <a:spcPts val="800"/>
              </a:spcAft>
              <a:defRPr sz="1700">
                <a:solidFill>
                  <a:srgbClr val="1E2733"/>
                </a:solidFill>
              </a:defRPr>
            </a:pPr>
            <a:r>
              <a:t>Quick buttons: Request Interpreter, Request Accommodation, Get Caption Support, Report Issue, Emergency Help.</a:t>
            </a:r>
          </a:p>
          <a:p>
            <a:pPr>
              <a:spcAft>
                <a:spcPts val="800"/>
              </a:spcAft>
              <a:defRPr sz="1700">
                <a:solidFill>
                  <a:srgbClr val="1E2733"/>
                </a:solidFill>
              </a:defRPr>
            </a:pPr>
            <a:r>
              <a:t>Show current requests with simple status: Submitted, In Review, Assigned, Confirmed, Completed.</a:t>
            </a:r>
          </a:p>
          <a:p>
            <a:pPr>
              <a:spcAft>
                <a:spcPts val="800"/>
              </a:spcAft>
              <a:defRPr sz="1700">
                <a:solidFill>
                  <a:srgbClr val="1E2733"/>
                </a:solidFill>
              </a:defRPr>
            </a:pPr>
            <a:r>
              <a:t>Show upcoming meetings where accessibility support is needed.</a:t>
            </a:r>
          </a:p>
          <a:p>
            <a:pPr>
              <a:spcAft>
                <a:spcPts val="800"/>
              </a:spcAft>
              <a:defRPr sz="1700">
                <a:solidFill>
                  <a:srgbClr val="1E2733"/>
                </a:solidFill>
              </a:defRPr>
            </a:pPr>
            <a:r>
              <a:t>Show important accessibility announcements and useful resources.</a:t>
            </a:r>
          </a:p>
          <a:p>
            <a:pPr>
              <a:spcAft>
                <a:spcPts val="800"/>
              </a:spcAft>
              <a:defRPr sz="1700">
                <a:solidFill>
                  <a:srgbClr val="1E2733"/>
                </a:solidFill>
              </a:defRPr>
            </a:pPr>
            <a:r>
              <a:t>Keep the page simple: the employee should find the right action in a few seconds.</a:t>
            </a:r>
          </a:p>
        </p:txBody>
      </p:sp>
      <p:sp>
        <p:nvSpPr>
          <p:cNvPr id="7" name="Rounded Rectangle 6"/>
          <p:cNvSpPr/>
          <p:nvPr/>
        </p:nvSpPr>
        <p:spPr>
          <a:xfrm>
            <a:off x="7726679" y="1234440"/>
            <a:ext cx="356616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26679" y="1234440"/>
            <a:ext cx="64008" cy="11430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27848" y="1371600"/>
            <a:ext cx="3200400" cy="365760"/>
          </a:xfrm>
          <a:prstGeom prst="rect">
            <a:avLst/>
          </a:prstGeom>
          <a:noFill/>
        </p:spPr>
        <p:txBody>
          <a:bodyPr wrap="none">
            <a:spAutoFit/>
          </a:bodyPr>
          <a:lstStyle/>
          <a:p>
            <a:pPr>
              <a:defRPr sz="1600" b="1">
                <a:solidFill>
                  <a:srgbClr val="162642"/>
                </a:solidFill>
              </a:defRPr>
            </a:pPr>
            <a:r>
              <a:t>QUICK ACTION</a:t>
            </a:r>
          </a:p>
        </p:txBody>
      </p:sp>
      <p:sp>
        <p:nvSpPr>
          <p:cNvPr id="10" name="TextBox 9"/>
          <p:cNvSpPr txBox="1"/>
          <p:nvPr/>
        </p:nvSpPr>
        <p:spPr>
          <a:xfrm>
            <a:off x="7927848" y="1828800"/>
            <a:ext cx="3200400" cy="411479"/>
          </a:xfrm>
          <a:prstGeom prst="rect">
            <a:avLst/>
          </a:prstGeom>
          <a:noFill/>
        </p:spPr>
        <p:txBody>
          <a:bodyPr wrap="none">
            <a:spAutoFit/>
          </a:bodyPr>
          <a:lstStyle/>
          <a:p>
            <a:pPr>
              <a:defRPr sz="1250">
                <a:solidFill>
                  <a:srgbClr val="1E2733"/>
                </a:solidFill>
              </a:defRPr>
            </a:pPr>
            <a:r>
              <a:t>🧑‍💼 Request Interpreter</a:t>
            </a:r>
          </a:p>
        </p:txBody>
      </p:sp>
      <p:sp>
        <p:nvSpPr>
          <p:cNvPr id="11" name="Rounded Rectangle 10"/>
          <p:cNvSpPr/>
          <p:nvPr/>
        </p:nvSpPr>
        <p:spPr>
          <a:xfrm>
            <a:off x="7726679" y="2606040"/>
            <a:ext cx="356616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26679" y="2606040"/>
            <a:ext cx="64008" cy="114300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27848" y="2743200"/>
            <a:ext cx="3200400" cy="365760"/>
          </a:xfrm>
          <a:prstGeom prst="rect">
            <a:avLst/>
          </a:prstGeom>
          <a:noFill/>
        </p:spPr>
        <p:txBody>
          <a:bodyPr wrap="none">
            <a:spAutoFit/>
          </a:bodyPr>
          <a:lstStyle/>
          <a:p>
            <a:pPr>
              <a:defRPr sz="1600" b="1">
                <a:solidFill>
                  <a:srgbClr val="162642"/>
                </a:solidFill>
              </a:defRPr>
            </a:pPr>
            <a:r>
              <a:t>QUICK ACTION</a:t>
            </a:r>
          </a:p>
        </p:txBody>
      </p:sp>
      <p:sp>
        <p:nvSpPr>
          <p:cNvPr id="14" name="TextBox 13"/>
          <p:cNvSpPr txBox="1"/>
          <p:nvPr/>
        </p:nvSpPr>
        <p:spPr>
          <a:xfrm>
            <a:off x="7927848" y="3200400"/>
            <a:ext cx="3200400" cy="411479"/>
          </a:xfrm>
          <a:prstGeom prst="rect">
            <a:avLst/>
          </a:prstGeom>
          <a:noFill/>
        </p:spPr>
        <p:txBody>
          <a:bodyPr wrap="none">
            <a:spAutoFit/>
          </a:bodyPr>
          <a:lstStyle/>
          <a:p>
            <a:pPr>
              <a:defRPr sz="1250">
                <a:solidFill>
                  <a:srgbClr val="1E2733"/>
                </a:solidFill>
              </a:defRPr>
            </a:pPr>
            <a:r>
              <a:t>📝 Request Accommodation</a:t>
            </a:r>
          </a:p>
        </p:txBody>
      </p:sp>
      <p:sp>
        <p:nvSpPr>
          <p:cNvPr id="15" name="Rounded Rectangle 14"/>
          <p:cNvSpPr/>
          <p:nvPr/>
        </p:nvSpPr>
        <p:spPr>
          <a:xfrm>
            <a:off x="7726679" y="3977639"/>
            <a:ext cx="356616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26679" y="3977639"/>
            <a:ext cx="64008" cy="1143000"/>
          </a:xfrm>
          <a:prstGeom prst="rect">
            <a:avLst/>
          </a:prstGeom>
          <a:solidFill>
            <a:srgbClr val="DD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4114800"/>
            <a:ext cx="3200400" cy="365760"/>
          </a:xfrm>
          <a:prstGeom prst="rect">
            <a:avLst/>
          </a:prstGeom>
          <a:noFill/>
        </p:spPr>
        <p:txBody>
          <a:bodyPr wrap="none">
            <a:spAutoFit/>
          </a:bodyPr>
          <a:lstStyle/>
          <a:p>
            <a:pPr>
              <a:defRPr sz="1600" b="1">
                <a:solidFill>
                  <a:srgbClr val="162642"/>
                </a:solidFill>
              </a:defRPr>
            </a:pPr>
            <a:r>
              <a:t>QUICK ACTION</a:t>
            </a:r>
          </a:p>
        </p:txBody>
      </p:sp>
      <p:sp>
        <p:nvSpPr>
          <p:cNvPr id="18" name="TextBox 17"/>
          <p:cNvSpPr txBox="1"/>
          <p:nvPr/>
        </p:nvSpPr>
        <p:spPr>
          <a:xfrm>
            <a:off x="7927848" y="4572000"/>
            <a:ext cx="3200400" cy="411479"/>
          </a:xfrm>
          <a:prstGeom prst="rect">
            <a:avLst/>
          </a:prstGeom>
          <a:noFill/>
        </p:spPr>
        <p:txBody>
          <a:bodyPr wrap="none">
            <a:spAutoFit/>
          </a:bodyPr>
          <a:lstStyle/>
          <a:p>
            <a:pPr>
              <a:defRPr sz="1250">
                <a:solidFill>
                  <a:srgbClr val="1E2733"/>
                </a:solidFill>
              </a:defRPr>
            </a:pPr>
            <a:r>
              <a:t>🐛 Report Accessibility Issue</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2. Interpreter Request</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MAIN FEATURE</a:t>
            </a:r>
          </a:p>
        </p:txBody>
      </p:sp>
      <p:sp>
        <p:nvSpPr>
          <p:cNvPr id="6" name="Rounded Rectangle 5"/>
          <p:cNvSpPr/>
          <p:nvPr/>
        </p:nvSpPr>
        <p:spPr>
          <a:xfrm>
            <a:off x="640080" y="1097280"/>
            <a:ext cx="342900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097280"/>
            <a:ext cx="64008" cy="18288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234439"/>
            <a:ext cx="3063240" cy="365760"/>
          </a:xfrm>
          <a:prstGeom prst="rect">
            <a:avLst/>
          </a:prstGeom>
          <a:noFill/>
        </p:spPr>
        <p:txBody>
          <a:bodyPr wrap="none">
            <a:spAutoFit/>
          </a:bodyPr>
          <a:lstStyle/>
          <a:p>
            <a:pPr>
              <a:defRPr sz="1600" b="1">
                <a:solidFill>
                  <a:srgbClr val="162642"/>
                </a:solidFill>
              </a:defRPr>
            </a:pPr>
            <a:r>
              <a:t>REQUEST TYPE</a:t>
            </a:r>
          </a:p>
        </p:txBody>
      </p:sp>
      <p:sp>
        <p:nvSpPr>
          <p:cNvPr id="9" name="TextBox 8"/>
          <p:cNvSpPr txBox="1"/>
          <p:nvPr/>
        </p:nvSpPr>
        <p:spPr>
          <a:xfrm>
            <a:off x="841247" y="1360999"/>
            <a:ext cx="1262846" cy="1246495"/>
          </a:xfrm>
          <a:prstGeom prst="rect">
            <a:avLst/>
          </a:prstGeom>
          <a:noFill/>
        </p:spPr>
        <p:txBody>
          <a:bodyPr wrap="none">
            <a:spAutoFit/>
          </a:bodyPr>
          <a:lstStyle/>
          <a:p>
            <a:pPr>
              <a:defRPr sz="1250">
                <a:solidFill>
                  <a:srgbClr val="1E2733"/>
                </a:solidFill>
              </a:defRPr>
            </a:pPr>
            <a:r>
              <a:rPr lang="en-IN" dirty="0"/>
              <a:t> </a:t>
            </a:r>
          </a:p>
          <a:p>
            <a:pPr>
              <a:defRPr sz="1250">
                <a:solidFill>
                  <a:srgbClr val="1E2733"/>
                </a:solidFill>
              </a:defRPr>
            </a:pPr>
            <a:r>
              <a:rPr lang="en-IN" dirty="0"/>
              <a:t>• Team meeting </a:t>
            </a:r>
          </a:p>
          <a:p>
            <a:pPr>
              <a:defRPr sz="1250">
                <a:solidFill>
                  <a:srgbClr val="1E2733"/>
                </a:solidFill>
              </a:defRPr>
            </a:pPr>
            <a:r>
              <a:rPr dirty="0"/>
              <a:t>• Town hall </a:t>
            </a:r>
            <a:endParaRPr lang="en-IN" dirty="0"/>
          </a:p>
          <a:p>
            <a:pPr>
              <a:defRPr sz="1250">
                <a:solidFill>
                  <a:srgbClr val="1E2733"/>
                </a:solidFill>
              </a:defRPr>
            </a:pPr>
            <a:r>
              <a:rPr dirty="0"/>
              <a:t>• Training </a:t>
            </a:r>
            <a:endParaRPr lang="en-IN" dirty="0"/>
          </a:p>
          <a:p>
            <a:pPr>
              <a:defRPr sz="1250">
                <a:solidFill>
                  <a:srgbClr val="1E2733"/>
                </a:solidFill>
              </a:defRPr>
            </a:pPr>
            <a:r>
              <a:rPr dirty="0"/>
              <a:t>• HR </a:t>
            </a:r>
            <a:endParaRPr lang="en-IN" dirty="0"/>
          </a:p>
          <a:p>
            <a:pPr>
              <a:defRPr sz="1250">
                <a:solidFill>
                  <a:srgbClr val="1E2733"/>
                </a:solidFill>
              </a:defRPr>
            </a:pPr>
            <a:r>
              <a:rPr dirty="0"/>
              <a:t>• Urgent</a:t>
            </a:r>
          </a:p>
        </p:txBody>
      </p:sp>
      <p:sp>
        <p:nvSpPr>
          <p:cNvPr id="10" name="Rounded Rectangle 9"/>
          <p:cNvSpPr/>
          <p:nvPr/>
        </p:nvSpPr>
        <p:spPr>
          <a:xfrm>
            <a:off x="4389120" y="1097280"/>
            <a:ext cx="342900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097280"/>
            <a:ext cx="64008" cy="182880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234439"/>
            <a:ext cx="3063240" cy="365760"/>
          </a:xfrm>
          <a:prstGeom prst="rect">
            <a:avLst/>
          </a:prstGeom>
          <a:noFill/>
        </p:spPr>
        <p:txBody>
          <a:bodyPr wrap="none">
            <a:spAutoFit/>
          </a:bodyPr>
          <a:lstStyle/>
          <a:p>
            <a:pPr>
              <a:defRPr sz="1600" b="1">
                <a:solidFill>
                  <a:srgbClr val="162642"/>
                </a:solidFill>
              </a:defRPr>
            </a:pPr>
            <a:r>
              <a:t>DETAILS</a:t>
            </a:r>
          </a:p>
        </p:txBody>
      </p:sp>
      <p:sp>
        <p:nvSpPr>
          <p:cNvPr id="13" name="TextBox 12"/>
          <p:cNvSpPr txBox="1"/>
          <p:nvPr/>
        </p:nvSpPr>
        <p:spPr>
          <a:xfrm>
            <a:off x="4590288" y="1505244"/>
            <a:ext cx="1018420" cy="1246495"/>
          </a:xfrm>
          <a:prstGeom prst="rect">
            <a:avLst/>
          </a:prstGeom>
          <a:noFill/>
        </p:spPr>
        <p:txBody>
          <a:bodyPr wrap="none">
            <a:spAutoFit/>
          </a:bodyPr>
          <a:lstStyle/>
          <a:p>
            <a:pPr>
              <a:defRPr sz="1250">
                <a:solidFill>
                  <a:srgbClr val="1E2733"/>
                </a:solidFill>
              </a:defRPr>
            </a:pPr>
            <a:r>
              <a:rPr lang="en-IN" dirty="0"/>
              <a:t>• </a:t>
            </a:r>
            <a:r>
              <a:rPr dirty="0"/>
              <a:t>Date </a:t>
            </a:r>
            <a:endParaRPr lang="en-IN" dirty="0"/>
          </a:p>
          <a:p>
            <a:pPr>
              <a:defRPr sz="1250">
                <a:solidFill>
                  <a:srgbClr val="1E2733"/>
                </a:solidFill>
              </a:defRPr>
            </a:pPr>
            <a:r>
              <a:rPr dirty="0"/>
              <a:t>• Time </a:t>
            </a:r>
            <a:endParaRPr lang="en-IN" dirty="0"/>
          </a:p>
          <a:p>
            <a:pPr>
              <a:defRPr sz="1250">
                <a:solidFill>
                  <a:srgbClr val="1E2733"/>
                </a:solidFill>
              </a:defRPr>
            </a:pPr>
            <a:r>
              <a:rPr dirty="0"/>
              <a:t>• Duration </a:t>
            </a:r>
            <a:endParaRPr lang="en-IN" dirty="0"/>
          </a:p>
          <a:p>
            <a:pPr>
              <a:defRPr sz="1250">
                <a:solidFill>
                  <a:srgbClr val="1E2733"/>
                </a:solidFill>
              </a:defRPr>
            </a:pPr>
            <a:r>
              <a:rPr dirty="0"/>
              <a:t>• Teams link </a:t>
            </a:r>
            <a:endParaRPr lang="en-IN" dirty="0"/>
          </a:p>
          <a:p>
            <a:pPr>
              <a:defRPr sz="1250">
                <a:solidFill>
                  <a:srgbClr val="1E2733"/>
                </a:solidFill>
              </a:defRPr>
            </a:pPr>
            <a:r>
              <a:rPr dirty="0"/>
              <a:t>• Location </a:t>
            </a:r>
            <a:endParaRPr lang="en-IN" dirty="0"/>
          </a:p>
          <a:p>
            <a:pPr>
              <a:defRPr sz="1250">
                <a:solidFill>
                  <a:srgbClr val="1E2733"/>
                </a:solidFill>
              </a:defRPr>
            </a:pPr>
            <a:r>
              <a:rPr dirty="0"/>
              <a:t>• Notes</a:t>
            </a:r>
          </a:p>
        </p:txBody>
      </p:sp>
      <p:sp>
        <p:nvSpPr>
          <p:cNvPr id="14" name="Rounded Rectangle 13"/>
          <p:cNvSpPr/>
          <p:nvPr/>
        </p:nvSpPr>
        <p:spPr>
          <a:xfrm>
            <a:off x="8138160" y="1097280"/>
            <a:ext cx="342900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097280"/>
            <a:ext cx="64008" cy="182880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8" y="1234439"/>
            <a:ext cx="3063240" cy="365760"/>
          </a:xfrm>
          <a:prstGeom prst="rect">
            <a:avLst/>
          </a:prstGeom>
          <a:noFill/>
        </p:spPr>
        <p:txBody>
          <a:bodyPr wrap="none">
            <a:spAutoFit/>
          </a:bodyPr>
          <a:lstStyle/>
          <a:p>
            <a:pPr>
              <a:defRPr sz="1600" b="1">
                <a:solidFill>
                  <a:srgbClr val="162642"/>
                </a:solidFill>
              </a:defRPr>
            </a:pPr>
            <a:r>
              <a:t>TRACK</a:t>
            </a:r>
          </a:p>
        </p:txBody>
      </p:sp>
      <p:sp>
        <p:nvSpPr>
          <p:cNvPr id="17" name="TextBox 16"/>
          <p:cNvSpPr txBox="1"/>
          <p:nvPr/>
        </p:nvSpPr>
        <p:spPr>
          <a:xfrm>
            <a:off x="8339328" y="1562249"/>
            <a:ext cx="2709672" cy="1054135"/>
          </a:xfrm>
          <a:prstGeom prst="rect">
            <a:avLst/>
          </a:prstGeom>
          <a:noFill/>
        </p:spPr>
        <p:txBody>
          <a:bodyPr wrap="square">
            <a:spAutoFit/>
          </a:bodyPr>
          <a:lstStyle/>
          <a:p>
            <a:pPr>
              <a:defRPr sz="1250">
                <a:solidFill>
                  <a:srgbClr val="1E2733"/>
                </a:solidFill>
              </a:defRPr>
            </a:pPr>
            <a:r>
              <a:rPr dirty="0"/>
              <a:t>Requested → </a:t>
            </a:r>
            <a:endParaRPr lang="en-IN" dirty="0"/>
          </a:p>
          <a:p>
            <a:pPr>
              <a:defRPr sz="1250">
                <a:solidFill>
                  <a:srgbClr val="1E2733"/>
                </a:solidFill>
              </a:defRPr>
            </a:pPr>
            <a:r>
              <a:rPr dirty="0"/>
              <a:t>Approved → </a:t>
            </a:r>
            <a:endParaRPr lang="en-IN" dirty="0"/>
          </a:p>
          <a:p>
            <a:pPr>
              <a:defRPr sz="1250">
                <a:solidFill>
                  <a:srgbClr val="1E2733"/>
                </a:solidFill>
              </a:defRPr>
            </a:pPr>
            <a:r>
              <a:rPr dirty="0"/>
              <a:t>Assigned → </a:t>
            </a:r>
            <a:endParaRPr lang="en-IN" dirty="0"/>
          </a:p>
          <a:p>
            <a:pPr>
              <a:defRPr sz="1250">
                <a:solidFill>
                  <a:srgbClr val="1E2733"/>
                </a:solidFill>
              </a:defRPr>
            </a:pPr>
            <a:r>
              <a:rPr dirty="0"/>
              <a:t>Confirmed → </a:t>
            </a:r>
            <a:endParaRPr lang="en-IN" dirty="0"/>
          </a:p>
          <a:p>
            <a:pPr>
              <a:defRPr sz="1250">
                <a:solidFill>
                  <a:srgbClr val="1E2733"/>
                </a:solidFill>
              </a:defRPr>
            </a:pPr>
            <a:r>
              <a:rPr dirty="0"/>
              <a:t>Completed</a:t>
            </a:r>
          </a:p>
        </p:txBody>
      </p:sp>
      <p:sp>
        <p:nvSpPr>
          <p:cNvPr id="22" name="Rounded Rectangle 21"/>
          <p:cNvSpPr/>
          <p:nvPr/>
        </p:nvSpPr>
        <p:spPr>
          <a:xfrm>
            <a:off x="1944370" y="3383280"/>
            <a:ext cx="342900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944370" y="3383280"/>
            <a:ext cx="64008" cy="18288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45538" y="3520440"/>
            <a:ext cx="3063240" cy="365760"/>
          </a:xfrm>
          <a:prstGeom prst="rect">
            <a:avLst/>
          </a:prstGeom>
          <a:noFill/>
        </p:spPr>
        <p:txBody>
          <a:bodyPr wrap="none">
            <a:spAutoFit/>
          </a:bodyPr>
          <a:lstStyle/>
          <a:p>
            <a:pPr>
              <a:defRPr sz="1600" b="1">
                <a:solidFill>
                  <a:srgbClr val="162642"/>
                </a:solidFill>
              </a:defRPr>
            </a:pPr>
            <a:r>
              <a:t>PRE-BRIEF</a:t>
            </a:r>
          </a:p>
        </p:txBody>
      </p:sp>
      <p:sp>
        <p:nvSpPr>
          <p:cNvPr id="25" name="TextBox 24"/>
          <p:cNvSpPr txBox="1"/>
          <p:nvPr/>
        </p:nvSpPr>
        <p:spPr>
          <a:xfrm>
            <a:off x="2145538" y="3977640"/>
            <a:ext cx="2438424" cy="477054"/>
          </a:xfrm>
          <a:prstGeom prst="rect">
            <a:avLst/>
          </a:prstGeom>
          <a:noFill/>
        </p:spPr>
        <p:txBody>
          <a:bodyPr wrap="none">
            <a:spAutoFit/>
          </a:bodyPr>
          <a:lstStyle/>
          <a:p>
            <a:pPr>
              <a:defRPr sz="1250">
                <a:solidFill>
                  <a:srgbClr val="1E2733"/>
                </a:solidFill>
              </a:defRPr>
            </a:pPr>
            <a:r>
              <a:rPr dirty="0"/>
              <a:t>Optional agenda, slides and </a:t>
            </a:r>
            <a:endParaRPr lang="en-IN" dirty="0"/>
          </a:p>
          <a:p>
            <a:pPr>
              <a:defRPr sz="1250">
                <a:solidFill>
                  <a:srgbClr val="1E2733"/>
                </a:solidFill>
              </a:defRPr>
            </a:pPr>
            <a:r>
              <a:rPr dirty="0"/>
              <a:t>technical terms for the interpreter.</a:t>
            </a:r>
          </a:p>
        </p:txBody>
      </p:sp>
      <p:sp>
        <p:nvSpPr>
          <p:cNvPr id="26" name="Rounded Rectangle 25"/>
          <p:cNvSpPr/>
          <p:nvPr/>
        </p:nvSpPr>
        <p:spPr>
          <a:xfrm>
            <a:off x="8138160" y="3383280"/>
            <a:ext cx="342900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38160" y="3383280"/>
            <a:ext cx="64008" cy="1828800"/>
          </a:xfrm>
          <a:prstGeom prst="rect">
            <a:avLst/>
          </a:prstGeom>
          <a:solidFill>
            <a:srgbClr val="C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9328" y="3520440"/>
            <a:ext cx="3063240" cy="365760"/>
          </a:xfrm>
          <a:prstGeom prst="rect">
            <a:avLst/>
          </a:prstGeom>
          <a:noFill/>
        </p:spPr>
        <p:txBody>
          <a:bodyPr wrap="none">
            <a:spAutoFit/>
          </a:bodyPr>
          <a:lstStyle/>
          <a:p>
            <a:pPr>
              <a:defRPr sz="1600" b="1">
                <a:solidFill>
                  <a:srgbClr val="162642"/>
                </a:solidFill>
              </a:defRPr>
            </a:pPr>
            <a:r>
              <a:t>FEEDBACK</a:t>
            </a:r>
          </a:p>
        </p:txBody>
      </p:sp>
      <p:sp>
        <p:nvSpPr>
          <p:cNvPr id="29" name="TextBox 28"/>
          <p:cNvSpPr txBox="1"/>
          <p:nvPr/>
        </p:nvSpPr>
        <p:spPr>
          <a:xfrm>
            <a:off x="8339328" y="3977640"/>
            <a:ext cx="2175980" cy="477054"/>
          </a:xfrm>
          <a:prstGeom prst="rect">
            <a:avLst/>
          </a:prstGeom>
          <a:noFill/>
        </p:spPr>
        <p:txBody>
          <a:bodyPr wrap="none">
            <a:spAutoFit/>
          </a:bodyPr>
          <a:lstStyle/>
          <a:p>
            <a:pPr>
              <a:defRPr sz="1250">
                <a:solidFill>
                  <a:srgbClr val="1E2733"/>
                </a:solidFill>
              </a:defRPr>
            </a:pPr>
            <a:r>
              <a:rPr dirty="0"/>
              <a:t>No-show, cancellation, quality </a:t>
            </a:r>
            <a:endParaRPr lang="en-IN" dirty="0"/>
          </a:p>
          <a:p>
            <a:pPr>
              <a:defRPr sz="1250">
                <a:solidFill>
                  <a:srgbClr val="1E2733"/>
                </a:solidFill>
              </a:defRPr>
            </a:pPr>
            <a:r>
              <a:rPr dirty="0"/>
              <a:t>feedback and escalation.</a:t>
            </a:r>
          </a:p>
        </p:txBody>
      </p:sp>
      <p:sp>
        <p:nvSpPr>
          <p:cNvPr id="30" name="TextBox 29"/>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3. Teams + Captioning Guide</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USE EXISTING TOOLS</a:t>
            </a:r>
          </a:p>
        </p:txBody>
      </p:sp>
      <p:sp>
        <p:nvSpPr>
          <p:cNvPr id="6" name="TextBox 5"/>
          <p:cNvSpPr txBox="1"/>
          <p:nvPr/>
        </p:nvSpPr>
        <p:spPr>
          <a:xfrm>
            <a:off x="685800" y="1143000"/>
            <a:ext cx="6766560" cy="1528624"/>
          </a:xfrm>
          <a:prstGeom prst="rect">
            <a:avLst/>
          </a:prstGeom>
          <a:noFill/>
        </p:spPr>
        <p:txBody>
          <a:bodyPr wrap="square">
            <a:spAutoFit/>
          </a:bodyPr>
          <a:lstStyle/>
          <a:p>
            <a:pPr>
              <a:spcAft>
                <a:spcPts val="800"/>
              </a:spcAft>
              <a:defRPr sz="1600">
                <a:solidFill>
                  <a:srgbClr val="1E2733"/>
                </a:solidFill>
              </a:defRPr>
            </a:pPr>
            <a:r>
              <a:rPr dirty="0"/>
              <a:t>Do not build a new captioning system if SG already provides Teams accessibility features.</a:t>
            </a:r>
          </a:p>
          <a:p>
            <a:pPr>
              <a:spcAft>
                <a:spcPts val="800"/>
              </a:spcAft>
              <a:defRPr sz="1600">
                <a:solidFill>
                  <a:srgbClr val="1E2733"/>
                </a:solidFill>
              </a:defRPr>
            </a:pPr>
            <a:r>
              <a:rPr dirty="0"/>
              <a:t>Give simple instructions for Live Captions, Transcription, Sign Language Mode, Pop-out Captions.</a:t>
            </a:r>
          </a:p>
          <a:p>
            <a:pPr>
              <a:spcAft>
                <a:spcPts val="800"/>
              </a:spcAft>
              <a:defRPr sz="1600">
                <a:solidFill>
                  <a:srgbClr val="1E2733"/>
                </a:solidFill>
              </a:defRPr>
            </a:pPr>
            <a:r>
              <a:rPr dirty="0"/>
              <a:t>Add short videos with an interpreter showing the steps.</a:t>
            </a:r>
          </a:p>
        </p:txBody>
      </p:sp>
      <p:sp>
        <p:nvSpPr>
          <p:cNvPr id="7" name="Rounded Rectangle 6"/>
          <p:cNvSpPr/>
          <p:nvPr/>
        </p:nvSpPr>
        <p:spPr>
          <a:xfrm>
            <a:off x="7818120" y="1188720"/>
            <a:ext cx="34747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818120" y="1188720"/>
            <a:ext cx="64008" cy="11430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19288" y="1325880"/>
            <a:ext cx="3108960" cy="365760"/>
          </a:xfrm>
          <a:prstGeom prst="rect">
            <a:avLst/>
          </a:prstGeom>
          <a:noFill/>
        </p:spPr>
        <p:txBody>
          <a:bodyPr wrap="none">
            <a:spAutoFit/>
          </a:bodyPr>
          <a:lstStyle/>
          <a:p>
            <a:pPr>
              <a:defRPr sz="1600" b="1">
                <a:solidFill>
                  <a:srgbClr val="162642"/>
                </a:solidFill>
              </a:defRPr>
            </a:pPr>
            <a:r>
              <a:t>VIDEO</a:t>
            </a:r>
          </a:p>
        </p:txBody>
      </p:sp>
      <p:sp>
        <p:nvSpPr>
          <p:cNvPr id="10" name="TextBox 9"/>
          <p:cNvSpPr txBox="1"/>
          <p:nvPr/>
        </p:nvSpPr>
        <p:spPr>
          <a:xfrm>
            <a:off x="8019288" y="1783080"/>
            <a:ext cx="3108960" cy="411479"/>
          </a:xfrm>
          <a:prstGeom prst="rect">
            <a:avLst/>
          </a:prstGeom>
          <a:noFill/>
        </p:spPr>
        <p:txBody>
          <a:bodyPr wrap="none">
            <a:spAutoFit/>
          </a:bodyPr>
          <a:lstStyle/>
          <a:p>
            <a:pPr>
              <a:defRPr sz="1250">
                <a:solidFill>
                  <a:srgbClr val="1E2733"/>
                </a:solidFill>
              </a:defRPr>
            </a:pPr>
            <a:r>
              <a:t>How to turn on Live Captions</a:t>
            </a:r>
          </a:p>
        </p:txBody>
      </p:sp>
      <p:sp>
        <p:nvSpPr>
          <p:cNvPr id="11" name="Rounded Rectangle 10"/>
          <p:cNvSpPr/>
          <p:nvPr/>
        </p:nvSpPr>
        <p:spPr>
          <a:xfrm>
            <a:off x="7818120" y="2560320"/>
            <a:ext cx="34747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818120" y="2560320"/>
            <a:ext cx="64008" cy="114300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19288" y="2697479"/>
            <a:ext cx="3108960" cy="365760"/>
          </a:xfrm>
          <a:prstGeom prst="rect">
            <a:avLst/>
          </a:prstGeom>
          <a:noFill/>
        </p:spPr>
        <p:txBody>
          <a:bodyPr wrap="none">
            <a:spAutoFit/>
          </a:bodyPr>
          <a:lstStyle/>
          <a:p>
            <a:pPr>
              <a:defRPr sz="1600" b="1">
                <a:solidFill>
                  <a:srgbClr val="162642"/>
                </a:solidFill>
              </a:defRPr>
            </a:pPr>
            <a:r>
              <a:t>VIDEO</a:t>
            </a:r>
          </a:p>
        </p:txBody>
      </p:sp>
      <p:sp>
        <p:nvSpPr>
          <p:cNvPr id="14" name="TextBox 13"/>
          <p:cNvSpPr txBox="1"/>
          <p:nvPr/>
        </p:nvSpPr>
        <p:spPr>
          <a:xfrm>
            <a:off x="8019288" y="3154679"/>
            <a:ext cx="3108960" cy="411479"/>
          </a:xfrm>
          <a:prstGeom prst="rect">
            <a:avLst/>
          </a:prstGeom>
          <a:noFill/>
        </p:spPr>
        <p:txBody>
          <a:bodyPr wrap="none">
            <a:spAutoFit/>
          </a:bodyPr>
          <a:lstStyle/>
          <a:p>
            <a:pPr>
              <a:defRPr sz="1250">
                <a:solidFill>
                  <a:srgbClr val="1E2733"/>
                </a:solidFill>
              </a:defRPr>
            </a:pPr>
            <a:r>
              <a:t>How to use Sign Language Mode</a:t>
            </a:r>
          </a:p>
        </p:txBody>
      </p:sp>
      <p:sp>
        <p:nvSpPr>
          <p:cNvPr id="15" name="Rounded Rectangle 14"/>
          <p:cNvSpPr/>
          <p:nvPr/>
        </p:nvSpPr>
        <p:spPr>
          <a:xfrm>
            <a:off x="7818120" y="3931920"/>
            <a:ext cx="34747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3931920"/>
            <a:ext cx="64008" cy="114300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19288" y="4069080"/>
            <a:ext cx="3108960" cy="365760"/>
          </a:xfrm>
          <a:prstGeom prst="rect">
            <a:avLst/>
          </a:prstGeom>
          <a:noFill/>
        </p:spPr>
        <p:txBody>
          <a:bodyPr wrap="none">
            <a:spAutoFit/>
          </a:bodyPr>
          <a:lstStyle/>
          <a:p>
            <a:pPr>
              <a:defRPr sz="1600" b="1">
                <a:solidFill>
                  <a:srgbClr val="162642"/>
                </a:solidFill>
              </a:defRPr>
            </a:pPr>
            <a:r>
              <a:t>VIDEO</a:t>
            </a:r>
          </a:p>
        </p:txBody>
      </p:sp>
      <p:sp>
        <p:nvSpPr>
          <p:cNvPr id="18" name="TextBox 17"/>
          <p:cNvSpPr txBox="1"/>
          <p:nvPr/>
        </p:nvSpPr>
        <p:spPr>
          <a:xfrm>
            <a:off x="8019288" y="4526280"/>
            <a:ext cx="3108960" cy="411479"/>
          </a:xfrm>
          <a:prstGeom prst="rect">
            <a:avLst/>
          </a:prstGeom>
          <a:noFill/>
        </p:spPr>
        <p:txBody>
          <a:bodyPr wrap="none">
            <a:spAutoFit/>
          </a:bodyPr>
          <a:lstStyle/>
          <a:p>
            <a:pPr>
              <a:defRPr sz="1250">
                <a:solidFill>
                  <a:srgbClr val="1E2733"/>
                </a:solidFill>
              </a:defRPr>
            </a:pPr>
            <a:r>
              <a:t>How to use captions / RTT</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4. Accessibility Passport + Teams Status</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KEEP IT SIMPLE</a:t>
            </a:r>
          </a:p>
        </p:txBody>
      </p:sp>
      <p:sp>
        <p:nvSpPr>
          <p:cNvPr id="6" name="TextBox 5"/>
          <p:cNvSpPr txBox="1"/>
          <p:nvPr/>
        </p:nvSpPr>
        <p:spPr>
          <a:xfrm>
            <a:off x="685800" y="1143000"/>
            <a:ext cx="6858000" cy="5029200"/>
          </a:xfrm>
          <a:prstGeom prst="rect">
            <a:avLst/>
          </a:prstGeom>
          <a:noFill/>
        </p:spPr>
        <p:txBody>
          <a:bodyPr wrap="square">
            <a:spAutoFit/>
          </a:bodyPr>
          <a:lstStyle/>
          <a:p>
            <a:pPr>
              <a:spcAft>
                <a:spcPts val="800"/>
              </a:spcAft>
              <a:defRPr sz="1600">
                <a:solidFill>
                  <a:srgbClr val="1E2733"/>
                </a:solidFill>
              </a:defRPr>
            </a:pPr>
            <a:r>
              <a:rPr dirty="0"/>
              <a:t>Store work communication preferences, not unnecessary medical information.</a:t>
            </a:r>
          </a:p>
          <a:p>
            <a:pPr>
              <a:spcAft>
                <a:spcPts val="800"/>
              </a:spcAft>
              <a:defRPr sz="1600">
                <a:solidFill>
                  <a:srgbClr val="1E2733"/>
                </a:solidFill>
              </a:defRPr>
            </a:pPr>
            <a:r>
              <a:rPr dirty="0"/>
              <a:t>Examples: Teams chat preferred, captions needed, written agenda preferred, face the speaker, one person at a time.</a:t>
            </a:r>
          </a:p>
          <a:p>
            <a:pPr>
              <a:spcAft>
                <a:spcPts val="800"/>
              </a:spcAft>
              <a:defRPr sz="1600">
                <a:solidFill>
                  <a:srgbClr val="1E2733"/>
                </a:solidFill>
              </a:defRPr>
            </a:pPr>
            <a:r>
              <a:rPr dirty="0"/>
              <a:t>Employee chooses what information is shared and with whom.</a:t>
            </a:r>
          </a:p>
          <a:p>
            <a:pPr>
              <a:spcAft>
                <a:spcPts val="800"/>
              </a:spcAft>
              <a:defRPr sz="1600">
                <a:solidFill>
                  <a:srgbClr val="1E2733"/>
                </a:solidFill>
              </a:defRPr>
            </a:pPr>
            <a:r>
              <a:rPr dirty="0"/>
              <a:t>Add a 'Set Teams Status' option with a ready-made status message.</a:t>
            </a:r>
          </a:p>
          <a:p>
            <a:pPr>
              <a:spcAft>
                <a:spcPts val="800"/>
              </a:spcAft>
              <a:defRPr sz="1600">
                <a:solidFill>
                  <a:srgbClr val="1E2733"/>
                </a:solidFill>
              </a:defRPr>
            </a:pPr>
            <a:r>
              <a:rPr dirty="0"/>
              <a:t>Example: 'Please use Teams chat for important communication.'</a:t>
            </a:r>
          </a:p>
          <a:p>
            <a:pPr>
              <a:spcAft>
                <a:spcPts val="800"/>
              </a:spcAft>
              <a:defRPr sz="1600">
                <a:solidFill>
                  <a:srgbClr val="1E2733"/>
                </a:solidFill>
              </a:defRPr>
            </a:pPr>
            <a:r>
              <a:rPr dirty="0"/>
              <a:t>Automatic Teams update should only be proposed if SG permissions allow it; otherwise provide Copy to Teams.</a:t>
            </a:r>
          </a:p>
        </p:txBody>
      </p:sp>
      <p:sp>
        <p:nvSpPr>
          <p:cNvPr id="7" name="Rounded Rectangle 6"/>
          <p:cNvSpPr/>
          <p:nvPr/>
        </p:nvSpPr>
        <p:spPr>
          <a:xfrm>
            <a:off x="7818120" y="1234440"/>
            <a:ext cx="34747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818120" y="1234440"/>
            <a:ext cx="64008" cy="11430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19288" y="1371600"/>
            <a:ext cx="3108960" cy="365760"/>
          </a:xfrm>
          <a:prstGeom prst="rect">
            <a:avLst/>
          </a:prstGeom>
          <a:noFill/>
        </p:spPr>
        <p:txBody>
          <a:bodyPr wrap="none">
            <a:spAutoFit/>
          </a:bodyPr>
          <a:lstStyle/>
          <a:p>
            <a:pPr>
              <a:defRPr sz="1600" b="1">
                <a:solidFill>
                  <a:srgbClr val="162642"/>
                </a:solidFill>
              </a:defRPr>
            </a:pPr>
            <a:r>
              <a:t>MY STATUS</a:t>
            </a:r>
          </a:p>
        </p:txBody>
      </p:sp>
      <p:sp>
        <p:nvSpPr>
          <p:cNvPr id="10" name="TextBox 9"/>
          <p:cNvSpPr txBox="1"/>
          <p:nvPr/>
        </p:nvSpPr>
        <p:spPr>
          <a:xfrm>
            <a:off x="8019288" y="1828800"/>
            <a:ext cx="3108960" cy="411479"/>
          </a:xfrm>
          <a:prstGeom prst="rect">
            <a:avLst/>
          </a:prstGeom>
          <a:noFill/>
        </p:spPr>
        <p:txBody>
          <a:bodyPr wrap="none">
            <a:spAutoFit/>
          </a:bodyPr>
          <a:lstStyle/>
          <a:p>
            <a:pPr>
              <a:defRPr sz="1250">
                <a:solidFill>
                  <a:srgbClr val="1E2733"/>
                </a:solidFill>
              </a:defRPr>
            </a:pPr>
            <a:r>
              <a:t>💬 Teams chat preferred</a:t>
            </a:r>
          </a:p>
        </p:txBody>
      </p:sp>
      <p:sp>
        <p:nvSpPr>
          <p:cNvPr id="11" name="Rounded Rectangle 10"/>
          <p:cNvSpPr/>
          <p:nvPr/>
        </p:nvSpPr>
        <p:spPr>
          <a:xfrm>
            <a:off x="7818120" y="2606040"/>
            <a:ext cx="34747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818120" y="2606040"/>
            <a:ext cx="64008" cy="114300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19288" y="2743200"/>
            <a:ext cx="3108960" cy="365760"/>
          </a:xfrm>
          <a:prstGeom prst="rect">
            <a:avLst/>
          </a:prstGeom>
          <a:noFill/>
        </p:spPr>
        <p:txBody>
          <a:bodyPr wrap="none">
            <a:spAutoFit/>
          </a:bodyPr>
          <a:lstStyle/>
          <a:p>
            <a:pPr>
              <a:defRPr sz="1600" b="1">
                <a:solidFill>
                  <a:srgbClr val="162642"/>
                </a:solidFill>
              </a:defRPr>
            </a:pPr>
            <a:r>
              <a:t>MY MEETINGS</a:t>
            </a:r>
          </a:p>
        </p:txBody>
      </p:sp>
      <p:sp>
        <p:nvSpPr>
          <p:cNvPr id="14" name="TextBox 13"/>
          <p:cNvSpPr txBox="1"/>
          <p:nvPr/>
        </p:nvSpPr>
        <p:spPr>
          <a:xfrm>
            <a:off x="8019288" y="3200400"/>
            <a:ext cx="3108960" cy="411479"/>
          </a:xfrm>
          <a:prstGeom prst="rect">
            <a:avLst/>
          </a:prstGeom>
          <a:noFill/>
        </p:spPr>
        <p:txBody>
          <a:bodyPr wrap="none">
            <a:spAutoFit/>
          </a:bodyPr>
          <a:lstStyle/>
          <a:p>
            <a:pPr>
              <a:defRPr sz="1250">
                <a:solidFill>
                  <a:srgbClr val="1E2733"/>
                </a:solidFill>
              </a:defRPr>
            </a:pPr>
            <a:r>
              <a:t>📝 Captions + written agenda</a:t>
            </a:r>
          </a:p>
        </p:txBody>
      </p:sp>
      <p:sp>
        <p:nvSpPr>
          <p:cNvPr id="15" name="Rounded Rectangle 14"/>
          <p:cNvSpPr/>
          <p:nvPr/>
        </p:nvSpPr>
        <p:spPr>
          <a:xfrm>
            <a:off x="7818120" y="3977639"/>
            <a:ext cx="34747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3977639"/>
            <a:ext cx="64008" cy="114300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19288" y="4114800"/>
            <a:ext cx="3108960" cy="365760"/>
          </a:xfrm>
          <a:prstGeom prst="rect">
            <a:avLst/>
          </a:prstGeom>
          <a:noFill/>
        </p:spPr>
        <p:txBody>
          <a:bodyPr wrap="none">
            <a:spAutoFit/>
          </a:bodyPr>
          <a:lstStyle/>
          <a:p>
            <a:pPr>
              <a:defRPr sz="1600" b="1">
                <a:solidFill>
                  <a:srgbClr val="162642"/>
                </a:solidFill>
              </a:defRPr>
            </a:pPr>
            <a:r>
              <a:t>MY SHARING</a:t>
            </a:r>
          </a:p>
        </p:txBody>
      </p:sp>
      <p:sp>
        <p:nvSpPr>
          <p:cNvPr id="18" name="TextBox 17"/>
          <p:cNvSpPr txBox="1"/>
          <p:nvPr/>
        </p:nvSpPr>
        <p:spPr>
          <a:xfrm>
            <a:off x="8019288" y="4572000"/>
            <a:ext cx="3108960" cy="411479"/>
          </a:xfrm>
          <a:prstGeom prst="rect">
            <a:avLst/>
          </a:prstGeom>
          <a:noFill/>
        </p:spPr>
        <p:txBody>
          <a:bodyPr wrap="none">
            <a:spAutoFit/>
          </a:bodyPr>
          <a:lstStyle/>
          <a:p>
            <a:pPr>
              <a:defRPr sz="1250">
                <a:solidFill>
                  <a:srgbClr val="1E2733"/>
                </a:solidFill>
              </a:defRPr>
            </a:pPr>
            <a:r>
              <a:t>👤 Employee controls visibility</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5. Meeting Communication Help</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EVERYDAY SUPPORT</a:t>
            </a:r>
          </a:p>
        </p:txBody>
      </p:sp>
      <p:sp>
        <p:nvSpPr>
          <p:cNvPr id="6" name="TextBox 5"/>
          <p:cNvSpPr txBox="1"/>
          <p:nvPr/>
        </p:nvSpPr>
        <p:spPr>
          <a:xfrm>
            <a:off x="822960" y="1143000"/>
            <a:ext cx="6583680" cy="5029200"/>
          </a:xfrm>
          <a:prstGeom prst="rect">
            <a:avLst/>
          </a:prstGeom>
          <a:noFill/>
        </p:spPr>
        <p:txBody>
          <a:bodyPr wrap="square">
            <a:spAutoFit/>
          </a:bodyPr>
          <a:lstStyle/>
          <a:p>
            <a:pPr>
              <a:spcAft>
                <a:spcPts val="800"/>
              </a:spcAft>
              <a:defRPr sz="1900">
                <a:solidFill>
                  <a:srgbClr val="1E2733"/>
                </a:solidFill>
              </a:defRPr>
            </a:pPr>
            <a:r>
              <a:t>Provide ready-to-copy sentences for Teams chat.</a:t>
            </a:r>
          </a:p>
          <a:p>
            <a:pPr>
              <a:spcAft>
                <a:spcPts val="800"/>
              </a:spcAft>
              <a:defRPr sz="1900">
                <a:solidFill>
                  <a:srgbClr val="1E2733"/>
                </a:solidFill>
              </a:defRPr>
            </a:pPr>
            <a:r>
              <a:t>Could you please repeat that?</a:t>
            </a:r>
          </a:p>
          <a:p>
            <a:pPr>
              <a:spcAft>
                <a:spcPts val="800"/>
              </a:spcAft>
              <a:defRPr sz="1900">
                <a:solidFill>
                  <a:srgbClr val="1E2733"/>
                </a:solidFill>
              </a:defRPr>
            </a:pPr>
            <a:r>
              <a:t>Could you please type that in the chat?</a:t>
            </a:r>
          </a:p>
          <a:p>
            <a:pPr>
              <a:spcAft>
                <a:spcPts val="800"/>
              </a:spcAft>
              <a:defRPr sz="1900">
                <a:solidFill>
                  <a:srgbClr val="1E2733"/>
                </a:solidFill>
              </a:defRPr>
            </a:pPr>
            <a:r>
              <a:t>Please speak a little slower.</a:t>
            </a:r>
          </a:p>
          <a:p>
            <a:pPr>
              <a:spcAft>
                <a:spcPts val="800"/>
              </a:spcAft>
              <a:defRPr sz="1900">
                <a:solidFill>
                  <a:srgbClr val="1E2733"/>
                </a:solidFill>
              </a:defRPr>
            </a:pPr>
            <a:r>
              <a:t>Could you please share that information in writing?</a:t>
            </a:r>
          </a:p>
          <a:p>
            <a:pPr>
              <a:spcAft>
                <a:spcPts val="800"/>
              </a:spcAft>
              <a:defRPr sz="1900">
                <a:solidFill>
                  <a:srgbClr val="1E2733"/>
                </a:solidFill>
              </a:defRPr>
            </a:pPr>
            <a:r>
              <a:t>I didn't catch the last point. Could you repeat it?</a:t>
            </a:r>
          </a:p>
        </p:txBody>
      </p:sp>
      <p:sp>
        <p:nvSpPr>
          <p:cNvPr id="7" name="Rounded Rectangle 6"/>
          <p:cNvSpPr/>
          <p:nvPr/>
        </p:nvSpPr>
        <p:spPr>
          <a:xfrm>
            <a:off x="7726679" y="1280160"/>
            <a:ext cx="3566160" cy="123444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26679" y="1280160"/>
            <a:ext cx="64008" cy="123444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27848" y="1417319"/>
            <a:ext cx="3200400" cy="365760"/>
          </a:xfrm>
          <a:prstGeom prst="rect">
            <a:avLst/>
          </a:prstGeom>
          <a:noFill/>
        </p:spPr>
        <p:txBody>
          <a:bodyPr wrap="none">
            <a:spAutoFit/>
          </a:bodyPr>
          <a:lstStyle/>
          <a:p>
            <a:pPr>
              <a:defRPr sz="1600" b="1">
                <a:solidFill>
                  <a:srgbClr val="162642"/>
                </a:solidFill>
              </a:defRPr>
            </a:pPr>
            <a:r>
              <a:t>ONE CLICK</a:t>
            </a:r>
          </a:p>
        </p:txBody>
      </p:sp>
      <p:sp>
        <p:nvSpPr>
          <p:cNvPr id="10" name="TextBox 9"/>
          <p:cNvSpPr txBox="1"/>
          <p:nvPr/>
        </p:nvSpPr>
        <p:spPr>
          <a:xfrm>
            <a:off x="7927848" y="1874519"/>
            <a:ext cx="3200400" cy="502920"/>
          </a:xfrm>
          <a:prstGeom prst="rect">
            <a:avLst/>
          </a:prstGeom>
          <a:noFill/>
        </p:spPr>
        <p:txBody>
          <a:bodyPr wrap="none">
            <a:spAutoFit/>
          </a:bodyPr>
          <a:lstStyle/>
          <a:p>
            <a:pPr>
              <a:defRPr sz="1250">
                <a:solidFill>
                  <a:srgbClr val="1E2733"/>
                </a:solidFill>
              </a:defRPr>
            </a:pPr>
            <a:r>
              <a:t>Copy the sentence and paste it into Teams.</a:t>
            </a:r>
          </a:p>
        </p:txBody>
      </p:sp>
      <p:sp>
        <p:nvSpPr>
          <p:cNvPr id="11" name="Rounded Rectangle 10"/>
          <p:cNvSpPr/>
          <p:nvPr/>
        </p:nvSpPr>
        <p:spPr>
          <a:xfrm>
            <a:off x="7726679" y="2788920"/>
            <a:ext cx="3566160" cy="123444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26679" y="2788920"/>
            <a:ext cx="64008" cy="123444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27848" y="2926079"/>
            <a:ext cx="3200400" cy="365760"/>
          </a:xfrm>
          <a:prstGeom prst="rect">
            <a:avLst/>
          </a:prstGeom>
          <a:noFill/>
        </p:spPr>
        <p:txBody>
          <a:bodyPr wrap="none">
            <a:spAutoFit/>
          </a:bodyPr>
          <a:lstStyle/>
          <a:p>
            <a:pPr>
              <a:defRPr sz="1600" b="1">
                <a:solidFill>
                  <a:srgbClr val="162642"/>
                </a:solidFill>
              </a:defRPr>
            </a:pPr>
            <a:r>
              <a:t>LESS PRESSURE</a:t>
            </a:r>
          </a:p>
        </p:txBody>
      </p:sp>
      <p:sp>
        <p:nvSpPr>
          <p:cNvPr id="14" name="TextBox 13"/>
          <p:cNvSpPr txBox="1"/>
          <p:nvPr/>
        </p:nvSpPr>
        <p:spPr>
          <a:xfrm>
            <a:off x="7927848" y="3383279"/>
            <a:ext cx="2800382" cy="477054"/>
          </a:xfrm>
          <a:prstGeom prst="rect">
            <a:avLst/>
          </a:prstGeom>
          <a:noFill/>
        </p:spPr>
        <p:txBody>
          <a:bodyPr wrap="none">
            <a:spAutoFit/>
          </a:bodyPr>
          <a:lstStyle/>
          <a:p>
            <a:pPr>
              <a:defRPr sz="1250">
                <a:solidFill>
                  <a:srgbClr val="1E2733"/>
                </a:solidFill>
              </a:defRPr>
            </a:pPr>
            <a:r>
              <a:rPr dirty="0"/>
              <a:t>The employee does not need to explain </a:t>
            </a:r>
            <a:endParaRPr lang="en-IN" dirty="0"/>
          </a:p>
          <a:p>
            <a:pPr>
              <a:defRPr sz="1250">
                <a:solidFill>
                  <a:srgbClr val="1E2733"/>
                </a:solidFill>
              </a:defRPr>
            </a:pPr>
            <a:r>
              <a:rPr dirty="0"/>
              <a:t>the same need every time.</a:t>
            </a:r>
          </a:p>
        </p:txBody>
      </p:sp>
      <p:sp>
        <p:nvSpPr>
          <p:cNvPr id="15" name="Rounded Rectangle 14"/>
          <p:cNvSpPr/>
          <p:nvPr/>
        </p:nvSpPr>
        <p:spPr>
          <a:xfrm>
            <a:off x="7726679" y="4297680"/>
            <a:ext cx="3566160" cy="123444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26679" y="4297680"/>
            <a:ext cx="64008" cy="123444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4434840"/>
            <a:ext cx="3200400" cy="365760"/>
          </a:xfrm>
          <a:prstGeom prst="rect">
            <a:avLst/>
          </a:prstGeom>
          <a:noFill/>
        </p:spPr>
        <p:txBody>
          <a:bodyPr wrap="none">
            <a:spAutoFit/>
          </a:bodyPr>
          <a:lstStyle/>
          <a:p>
            <a:pPr>
              <a:defRPr sz="1600" b="1">
                <a:solidFill>
                  <a:srgbClr val="162642"/>
                </a:solidFill>
              </a:defRPr>
            </a:pPr>
            <a:r>
              <a:t>INCLUSIVE</a:t>
            </a:r>
          </a:p>
        </p:txBody>
      </p:sp>
      <p:sp>
        <p:nvSpPr>
          <p:cNvPr id="18" name="TextBox 17"/>
          <p:cNvSpPr txBox="1"/>
          <p:nvPr/>
        </p:nvSpPr>
        <p:spPr>
          <a:xfrm>
            <a:off x="7927848" y="4892040"/>
            <a:ext cx="3093604" cy="477054"/>
          </a:xfrm>
          <a:prstGeom prst="rect">
            <a:avLst/>
          </a:prstGeom>
          <a:noFill/>
        </p:spPr>
        <p:txBody>
          <a:bodyPr wrap="none">
            <a:spAutoFit/>
          </a:bodyPr>
          <a:lstStyle/>
          <a:p>
            <a:pPr>
              <a:defRPr sz="1250">
                <a:solidFill>
                  <a:srgbClr val="1E2733"/>
                </a:solidFill>
              </a:defRPr>
            </a:pPr>
            <a:r>
              <a:rPr dirty="0"/>
              <a:t>Useful for Deaf/</a:t>
            </a:r>
            <a:r>
              <a:rPr dirty="0" err="1"/>
              <a:t>HoH</a:t>
            </a:r>
            <a:r>
              <a:rPr dirty="0"/>
              <a:t> employees and anyone </a:t>
            </a:r>
            <a:endParaRPr lang="en-IN" dirty="0"/>
          </a:p>
          <a:p>
            <a:pPr>
              <a:defRPr sz="1250">
                <a:solidFill>
                  <a:srgbClr val="1E2733"/>
                </a:solidFill>
              </a:defRPr>
            </a:pPr>
            <a:r>
              <a:rPr dirty="0"/>
              <a:t>who prefers written communication.</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6220036" cy="477054"/>
          </a:xfrm>
          <a:prstGeom prst="rect">
            <a:avLst/>
          </a:prstGeom>
          <a:noFill/>
        </p:spPr>
        <p:txBody>
          <a:bodyPr wrap="none">
            <a:spAutoFit/>
          </a:bodyPr>
          <a:lstStyle/>
          <a:p>
            <a:pPr>
              <a:defRPr sz="2500" b="1">
                <a:solidFill>
                  <a:srgbClr val="FFFFFF"/>
                </a:solidFill>
              </a:defRPr>
            </a:pPr>
            <a:r>
              <a:rPr dirty="0"/>
              <a:t>6. Accommodation Request</a:t>
            </a:r>
            <a:r>
              <a:rPr lang="en-IN" dirty="0"/>
              <a:t> (need discussion)</a:t>
            </a:r>
            <a:endParaRPr dirty="0"/>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FOR ALL PwD EMPLOYEES</a:t>
            </a:r>
          </a:p>
        </p:txBody>
      </p:sp>
      <p:sp>
        <p:nvSpPr>
          <p:cNvPr id="6" name="TextBox 5"/>
          <p:cNvSpPr txBox="1"/>
          <p:nvPr/>
        </p:nvSpPr>
        <p:spPr>
          <a:xfrm>
            <a:off x="731520" y="1143000"/>
            <a:ext cx="7040880" cy="5029200"/>
          </a:xfrm>
          <a:prstGeom prst="rect">
            <a:avLst/>
          </a:prstGeom>
          <a:noFill/>
        </p:spPr>
        <p:txBody>
          <a:bodyPr wrap="square">
            <a:spAutoFit/>
          </a:bodyPr>
          <a:lstStyle/>
          <a:p>
            <a:pPr>
              <a:spcAft>
                <a:spcPts val="800"/>
              </a:spcAft>
              <a:defRPr sz="1700">
                <a:solidFill>
                  <a:srgbClr val="1E2733"/>
                </a:solidFill>
              </a:defRPr>
            </a:pPr>
            <a:r>
              <a:t>Communication: interpreter, captioner, note-taker.</a:t>
            </a:r>
          </a:p>
          <a:p>
            <a:pPr>
              <a:spcAft>
                <a:spcPts val="800"/>
              </a:spcAft>
              <a:defRPr sz="1700">
                <a:solidFill>
                  <a:srgbClr val="1E2733"/>
                </a:solidFill>
              </a:defRPr>
            </a:pPr>
            <a:r>
              <a:t>Assistive technology: hearing loop, FM system, screen reader, magnifier, ergonomic equipment.</a:t>
            </a:r>
          </a:p>
          <a:p>
            <a:pPr>
              <a:spcAft>
                <a:spcPts val="800"/>
              </a:spcAft>
              <a:defRPr sz="1700">
                <a:solidFill>
                  <a:srgbClr val="1E2733"/>
                </a:solidFill>
              </a:defRPr>
            </a:pPr>
            <a:r>
              <a:t>Workplace: quiet room, desk change, lighting or accessibility support.</a:t>
            </a:r>
          </a:p>
          <a:p>
            <a:pPr>
              <a:spcAft>
                <a:spcPts val="800"/>
              </a:spcAft>
              <a:defRPr sz="1700">
                <a:solidFill>
                  <a:srgbClr val="1E2733"/>
                </a:solidFill>
              </a:defRPr>
            </a:pPr>
            <a:r>
              <a:t>Work pattern: flexible hours, WFH, additional breaks or phased return.</a:t>
            </a:r>
          </a:p>
          <a:p>
            <a:pPr>
              <a:spcAft>
                <a:spcPts val="800"/>
              </a:spcAft>
              <a:defRPr sz="1700">
                <a:solidFill>
                  <a:srgbClr val="1E2733"/>
                </a:solidFill>
              </a:defRPr>
            </a:pPr>
            <a:r>
              <a:t>Track approval, owner, status, SLA and review / renewal date.</a:t>
            </a:r>
          </a:p>
        </p:txBody>
      </p:sp>
      <p:sp>
        <p:nvSpPr>
          <p:cNvPr id="7" name="Rounded Rectangle 6"/>
          <p:cNvSpPr/>
          <p:nvPr/>
        </p:nvSpPr>
        <p:spPr>
          <a:xfrm>
            <a:off x="8229600" y="1280160"/>
            <a:ext cx="292608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0" y="1280160"/>
            <a:ext cx="64008" cy="11430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30768" y="1417319"/>
            <a:ext cx="2560320" cy="365760"/>
          </a:xfrm>
          <a:prstGeom prst="rect">
            <a:avLst/>
          </a:prstGeom>
          <a:noFill/>
        </p:spPr>
        <p:txBody>
          <a:bodyPr wrap="none">
            <a:spAutoFit/>
          </a:bodyPr>
          <a:lstStyle/>
          <a:p>
            <a:pPr>
              <a:defRPr sz="1600" b="1">
                <a:solidFill>
                  <a:srgbClr val="162642"/>
                </a:solidFill>
              </a:defRPr>
            </a:pPr>
            <a:r>
              <a:t>SUBMIT</a:t>
            </a:r>
          </a:p>
        </p:txBody>
      </p:sp>
      <p:sp>
        <p:nvSpPr>
          <p:cNvPr id="10" name="TextBox 9"/>
          <p:cNvSpPr txBox="1"/>
          <p:nvPr/>
        </p:nvSpPr>
        <p:spPr>
          <a:xfrm>
            <a:off x="8430768" y="1874519"/>
            <a:ext cx="2560320" cy="411479"/>
          </a:xfrm>
          <a:prstGeom prst="rect">
            <a:avLst/>
          </a:prstGeom>
          <a:noFill/>
        </p:spPr>
        <p:txBody>
          <a:bodyPr wrap="none">
            <a:spAutoFit/>
          </a:bodyPr>
          <a:lstStyle/>
          <a:p>
            <a:pPr>
              <a:defRPr sz="1250">
                <a:solidFill>
                  <a:srgbClr val="1E2733"/>
                </a:solidFill>
              </a:defRPr>
            </a:pPr>
            <a:r>
              <a:t>Employee or manager</a:t>
            </a:r>
          </a:p>
        </p:txBody>
      </p:sp>
      <p:sp>
        <p:nvSpPr>
          <p:cNvPr id="11" name="Rounded Rectangle 10"/>
          <p:cNvSpPr/>
          <p:nvPr/>
        </p:nvSpPr>
        <p:spPr>
          <a:xfrm>
            <a:off x="8229600" y="2697480"/>
            <a:ext cx="292608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29600" y="2697480"/>
            <a:ext cx="64008" cy="114300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30768" y="2834640"/>
            <a:ext cx="2560320" cy="365760"/>
          </a:xfrm>
          <a:prstGeom prst="rect">
            <a:avLst/>
          </a:prstGeom>
          <a:noFill/>
        </p:spPr>
        <p:txBody>
          <a:bodyPr wrap="none">
            <a:spAutoFit/>
          </a:bodyPr>
          <a:lstStyle/>
          <a:p>
            <a:pPr>
              <a:defRPr sz="1600" b="1">
                <a:solidFill>
                  <a:srgbClr val="162642"/>
                </a:solidFill>
              </a:defRPr>
            </a:pPr>
            <a:r>
              <a:t>REVIEW</a:t>
            </a:r>
          </a:p>
        </p:txBody>
      </p:sp>
      <p:sp>
        <p:nvSpPr>
          <p:cNvPr id="14" name="TextBox 13"/>
          <p:cNvSpPr txBox="1"/>
          <p:nvPr/>
        </p:nvSpPr>
        <p:spPr>
          <a:xfrm>
            <a:off x="8430768" y="3291840"/>
            <a:ext cx="2560320" cy="411479"/>
          </a:xfrm>
          <a:prstGeom prst="rect">
            <a:avLst/>
          </a:prstGeom>
          <a:noFill/>
        </p:spPr>
        <p:txBody>
          <a:bodyPr wrap="none">
            <a:spAutoFit/>
          </a:bodyPr>
          <a:lstStyle/>
          <a:p>
            <a:pPr>
              <a:defRPr sz="1250">
                <a:solidFill>
                  <a:srgbClr val="1E2733"/>
                </a:solidFill>
              </a:defRPr>
            </a:pPr>
            <a:r>
              <a:t>Right internal team</a:t>
            </a:r>
          </a:p>
        </p:txBody>
      </p:sp>
      <p:sp>
        <p:nvSpPr>
          <p:cNvPr id="15" name="Rounded Rectangle 14"/>
          <p:cNvSpPr/>
          <p:nvPr/>
        </p:nvSpPr>
        <p:spPr>
          <a:xfrm>
            <a:off x="8229600" y="4114800"/>
            <a:ext cx="292608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4114800"/>
            <a:ext cx="64008" cy="114300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0768" y="4251960"/>
            <a:ext cx="2560320" cy="365760"/>
          </a:xfrm>
          <a:prstGeom prst="rect">
            <a:avLst/>
          </a:prstGeom>
          <a:noFill/>
        </p:spPr>
        <p:txBody>
          <a:bodyPr wrap="none">
            <a:spAutoFit/>
          </a:bodyPr>
          <a:lstStyle/>
          <a:p>
            <a:pPr>
              <a:defRPr sz="1600" b="1">
                <a:solidFill>
                  <a:srgbClr val="162642"/>
                </a:solidFill>
              </a:defRPr>
            </a:pPr>
            <a:r>
              <a:t>TRACK</a:t>
            </a:r>
          </a:p>
        </p:txBody>
      </p:sp>
      <p:sp>
        <p:nvSpPr>
          <p:cNvPr id="18" name="TextBox 17"/>
          <p:cNvSpPr txBox="1"/>
          <p:nvPr/>
        </p:nvSpPr>
        <p:spPr>
          <a:xfrm>
            <a:off x="8430768" y="4709160"/>
            <a:ext cx="2560320" cy="411479"/>
          </a:xfrm>
          <a:prstGeom prst="rect">
            <a:avLst/>
          </a:prstGeom>
          <a:noFill/>
        </p:spPr>
        <p:txBody>
          <a:bodyPr wrap="none">
            <a:spAutoFit/>
          </a:bodyPr>
          <a:lstStyle/>
          <a:p>
            <a:pPr>
              <a:defRPr sz="1250">
                <a:solidFill>
                  <a:srgbClr val="1E2733"/>
                </a:solidFill>
              </a:defRPr>
            </a:pPr>
            <a:r>
              <a:t>Status + renewal</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7. Accessibility Issue Reporter</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FIND &amp; FIX BARRIERS</a:t>
            </a:r>
          </a:p>
        </p:txBody>
      </p:sp>
      <p:sp>
        <p:nvSpPr>
          <p:cNvPr id="6" name="TextBox 5"/>
          <p:cNvSpPr txBox="1"/>
          <p:nvPr/>
        </p:nvSpPr>
        <p:spPr>
          <a:xfrm>
            <a:off x="731520" y="1143000"/>
            <a:ext cx="6858000" cy="5029200"/>
          </a:xfrm>
          <a:prstGeom prst="rect">
            <a:avLst/>
          </a:prstGeom>
          <a:noFill/>
        </p:spPr>
        <p:txBody>
          <a:bodyPr wrap="square">
            <a:spAutoFit/>
          </a:bodyPr>
          <a:lstStyle/>
          <a:p>
            <a:pPr>
              <a:spcAft>
                <a:spcPts val="800"/>
              </a:spcAft>
              <a:defRPr sz="1700">
                <a:solidFill>
                  <a:srgbClr val="1E2733"/>
                </a:solidFill>
              </a:defRPr>
            </a:pPr>
            <a:r>
              <a:rPr dirty="0"/>
              <a:t>Report inaccessible videos, documents, applications, meeting rooms, lifts, washrooms or emergency communication.</a:t>
            </a:r>
          </a:p>
          <a:p>
            <a:pPr>
              <a:spcAft>
                <a:spcPts val="800"/>
              </a:spcAft>
              <a:defRPr sz="1700">
                <a:solidFill>
                  <a:srgbClr val="1E2733"/>
                </a:solidFill>
              </a:defRPr>
            </a:pPr>
            <a:r>
              <a:rPr dirty="0"/>
              <a:t>Add category, location, screenshot, severity and description.</a:t>
            </a:r>
          </a:p>
          <a:p>
            <a:pPr>
              <a:spcAft>
                <a:spcPts val="800"/>
              </a:spcAft>
              <a:defRPr sz="1700">
                <a:solidFill>
                  <a:srgbClr val="1E2733"/>
                </a:solidFill>
              </a:defRPr>
            </a:pPr>
            <a:r>
              <a:rPr dirty="0"/>
              <a:t>Route the issue to IT, Facilities, Comms, HR or the Accessibility team.</a:t>
            </a:r>
          </a:p>
          <a:p>
            <a:pPr>
              <a:spcAft>
                <a:spcPts val="800"/>
              </a:spcAft>
              <a:defRPr sz="1700">
                <a:solidFill>
                  <a:srgbClr val="1E2733"/>
                </a:solidFill>
              </a:defRPr>
            </a:pPr>
            <a:r>
              <a:rPr dirty="0"/>
              <a:t>Give the employee a ticket number and progress updates.</a:t>
            </a:r>
          </a:p>
          <a:p>
            <a:pPr>
              <a:spcAft>
                <a:spcPts val="800"/>
              </a:spcAft>
              <a:defRPr sz="1700">
                <a:solidFill>
                  <a:srgbClr val="1E2733"/>
                </a:solidFill>
              </a:defRPr>
            </a:pPr>
            <a:r>
              <a:rPr dirty="0"/>
              <a:t>Allow 'Me too' feedback to show when many employees face the same problem.</a:t>
            </a:r>
          </a:p>
        </p:txBody>
      </p:sp>
      <p:sp>
        <p:nvSpPr>
          <p:cNvPr id="7" name="Rounded Rectangle 6"/>
          <p:cNvSpPr/>
          <p:nvPr/>
        </p:nvSpPr>
        <p:spPr>
          <a:xfrm>
            <a:off x="7909560" y="1280160"/>
            <a:ext cx="32461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909560" y="1280160"/>
            <a:ext cx="64008" cy="1143000"/>
          </a:xfrm>
          <a:prstGeom prst="rect">
            <a:avLst/>
          </a:prstGeom>
          <a:solidFill>
            <a:srgbClr val="C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8" y="1417319"/>
            <a:ext cx="2880360" cy="365760"/>
          </a:xfrm>
          <a:prstGeom prst="rect">
            <a:avLst/>
          </a:prstGeom>
          <a:noFill/>
        </p:spPr>
        <p:txBody>
          <a:bodyPr wrap="none">
            <a:spAutoFit/>
          </a:bodyPr>
          <a:lstStyle/>
          <a:p>
            <a:pPr>
              <a:defRPr sz="1600" b="1">
                <a:solidFill>
                  <a:srgbClr val="162642"/>
                </a:solidFill>
              </a:defRPr>
            </a:pPr>
            <a:r>
              <a:t>ISSUE #A-1842</a:t>
            </a:r>
          </a:p>
        </p:txBody>
      </p:sp>
      <p:sp>
        <p:nvSpPr>
          <p:cNvPr id="10" name="TextBox 9"/>
          <p:cNvSpPr txBox="1"/>
          <p:nvPr/>
        </p:nvSpPr>
        <p:spPr>
          <a:xfrm>
            <a:off x="8110728" y="1874519"/>
            <a:ext cx="2880360" cy="411479"/>
          </a:xfrm>
          <a:prstGeom prst="rect">
            <a:avLst/>
          </a:prstGeom>
          <a:noFill/>
        </p:spPr>
        <p:txBody>
          <a:bodyPr wrap="none">
            <a:spAutoFit/>
          </a:bodyPr>
          <a:lstStyle/>
          <a:p>
            <a:pPr>
              <a:defRPr sz="1250">
                <a:solidFill>
                  <a:srgbClr val="1E2733"/>
                </a:solidFill>
              </a:defRPr>
            </a:pPr>
            <a:r>
              <a:t>Uncaptioned training video</a:t>
            </a:r>
          </a:p>
        </p:txBody>
      </p:sp>
      <p:sp>
        <p:nvSpPr>
          <p:cNvPr id="11" name="Rounded Rectangle 10"/>
          <p:cNvSpPr/>
          <p:nvPr/>
        </p:nvSpPr>
        <p:spPr>
          <a:xfrm>
            <a:off x="7909560" y="2697480"/>
            <a:ext cx="32461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909560" y="2697480"/>
            <a:ext cx="64008" cy="11430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10728" y="2834640"/>
            <a:ext cx="2880360" cy="365760"/>
          </a:xfrm>
          <a:prstGeom prst="rect">
            <a:avLst/>
          </a:prstGeom>
          <a:noFill/>
        </p:spPr>
        <p:txBody>
          <a:bodyPr wrap="none">
            <a:spAutoFit/>
          </a:bodyPr>
          <a:lstStyle/>
          <a:p>
            <a:pPr>
              <a:defRPr sz="1600" b="1">
                <a:solidFill>
                  <a:srgbClr val="162642"/>
                </a:solidFill>
              </a:defRPr>
            </a:pPr>
            <a:r>
              <a:t>OWNER</a:t>
            </a:r>
          </a:p>
        </p:txBody>
      </p:sp>
      <p:sp>
        <p:nvSpPr>
          <p:cNvPr id="14" name="TextBox 13"/>
          <p:cNvSpPr txBox="1"/>
          <p:nvPr/>
        </p:nvSpPr>
        <p:spPr>
          <a:xfrm>
            <a:off x="8110728" y="3291840"/>
            <a:ext cx="2880360" cy="411479"/>
          </a:xfrm>
          <a:prstGeom prst="rect">
            <a:avLst/>
          </a:prstGeom>
          <a:noFill/>
        </p:spPr>
        <p:txBody>
          <a:bodyPr wrap="none">
            <a:spAutoFit/>
          </a:bodyPr>
          <a:lstStyle/>
          <a:p>
            <a:pPr>
              <a:defRPr sz="1250">
                <a:solidFill>
                  <a:srgbClr val="1E2733"/>
                </a:solidFill>
              </a:defRPr>
            </a:pPr>
            <a:r>
              <a:t>Learning / Comms</a:t>
            </a:r>
          </a:p>
        </p:txBody>
      </p:sp>
      <p:sp>
        <p:nvSpPr>
          <p:cNvPr id="15" name="Rounded Rectangle 14"/>
          <p:cNvSpPr/>
          <p:nvPr/>
        </p:nvSpPr>
        <p:spPr>
          <a:xfrm>
            <a:off x="7909560" y="4114800"/>
            <a:ext cx="3246120" cy="11430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09560" y="4114800"/>
            <a:ext cx="64008" cy="1143000"/>
          </a:xfrm>
          <a:prstGeom prst="rect">
            <a:avLst/>
          </a:prstGeom>
          <a:solidFill>
            <a:srgbClr val="DD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10728" y="4251960"/>
            <a:ext cx="2880360" cy="365760"/>
          </a:xfrm>
          <a:prstGeom prst="rect">
            <a:avLst/>
          </a:prstGeom>
          <a:noFill/>
        </p:spPr>
        <p:txBody>
          <a:bodyPr wrap="none">
            <a:spAutoFit/>
          </a:bodyPr>
          <a:lstStyle/>
          <a:p>
            <a:pPr>
              <a:defRPr sz="1600" b="1">
                <a:solidFill>
                  <a:srgbClr val="162642"/>
                </a:solidFill>
              </a:defRPr>
            </a:pPr>
            <a:r>
              <a:t>STATUS</a:t>
            </a:r>
          </a:p>
        </p:txBody>
      </p:sp>
      <p:sp>
        <p:nvSpPr>
          <p:cNvPr id="18" name="TextBox 17"/>
          <p:cNvSpPr txBox="1"/>
          <p:nvPr/>
        </p:nvSpPr>
        <p:spPr>
          <a:xfrm>
            <a:off x="8110728" y="4709160"/>
            <a:ext cx="2880360" cy="411479"/>
          </a:xfrm>
          <a:prstGeom prst="rect">
            <a:avLst/>
          </a:prstGeom>
          <a:noFill/>
        </p:spPr>
        <p:txBody>
          <a:bodyPr wrap="none">
            <a:spAutoFit/>
          </a:bodyPr>
          <a:lstStyle/>
          <a:p>
            <a:pPr>
              <a:defRPr sz="1250">
                <a:solidFill>
                  <a:srgbClr val="1E2733"/>
                </a:solidFill>
              </a:defRPr>
            </a:pPr>
            <a:r>
              <a:t>In progress</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8. Emergency Accessibility</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SAFETY</a:t>
            </a:r>
          </a:p>
        </p:txBody>
      </p:sp>
      <p:sp>
        <p:nvSpPr>
          <p:cNvPr id="6" name="Rounded Rectangle 5"/>
          <p:cNvSpPr/>
          <p:nvPr/>
        </p:nvSpPr>
        <p:spPr>
          <a:xfrm>
            <a:off x="685800" y="1143000"/>
            <a:ext cx="3429000" cy="150876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143000"/>
            <a:ext cx="64008" cy="1508760"/>
          </a:xfrm>
          <a:prstGeom prst="rect">
            <a:avLst/>
          </a:prstGeom>
          <a:solidFill>
            <a:srgbClr val="C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280160"/>
            <a:ext cx="3063240" cy="365760"/>
          </a:xfrm>
          <a:prstGeom prst="rect">
            <a:avLst/>
          </a:prstGeom>
          <a:noFill/>
        </p:spPr>
        <p:txBody>
          <a:bodyPr wrap="none">
            <a:spAutoFit/>
          </a:bodyPr>
          <a:lstStyle/>
          <a:p>
            <a:pPr>
              <a:defRPr sz="1600" b="1">
                <a:solidFill>
                  <a:srgbClr val="162642"/>
                </a:solidFill>
              </a:defRPr>
            </a:pPr>
            <a:r>
              <a:t>VISUAL ALERTS</a:t>
            </a:r>
          </a:p>
        </p:txBody>
      </p:sp>
      <p:sp>
        <p:nvSpPr>
          <p:cNvPr id="9" name="TextBox 8"/>
          <p:cNvSpPr txBox="1"/>
          <p:nvPr/>
        </p:nvSpPr>
        <p:spPr>
          <a:xfrm>
            <a:off x="871035" y="1594509"/>
            <a:ext cx="1529265" cy="861774"/>
          </a:xfrm>
          <a:prstGeom prst="rect">
            <a:avLst/>
          </a:prstGeom>
          <a:noFill/>
        </p:spPr>
        <p:txBody>
          <a:bodyPr wrap="none">
            <a:spAutoFit/>
          </a:bodyPr>
          <a:lstStyle/>
          <a:p>
            <a:pPr>
              <a:defRPr sz="1250">
                <a:solidFill>
                  <a:srgbClr val="1E2733"/>
                </a:solidFill>
              </a:defRPr>
            </a:pPr>
            <a:r>
              <a:rPr lang="en-IN" dirty="0"/>
              <a:t>• </a:t>
            </a:r>
            <a:r>
              <a:rPr dirty="0"/>
              <a:t>Fire alarm </a:t>
            </a:r>
            <a:br>
              <a:rPr lang="en-IN" dirty="0"/>
            </a:br>
            <a:r>
              <a:rPr dirty="0"/>
              <a:t>• evacuation </a:t>
            </a:r>
            <a:br>
              <a:rPr lang="en-IN" dirty="0"/>
            </a:br>
            <a:r>
              <a:rPr dirty="0"/>
              <a:t>• building closure </a:t>
            </a:r>
            <a:br>
              <a:rPr lang="en-IN" dirty="0"/>
            </a:br>
            <a:r>
              <a:rPr dirty="0"/>
              <a:t>• emergency notices</a:t>
            </a:r>
          </a:p>
        </p:txBody>
      </p:sp>
      <p:sp>
        <p:nvSpPr>
          <p:cNvPr id="10" name="Rounded Rectangle 9"/>
          <p:cNvSpPr/>
          <p:nvPr/>
        </p:nvSpPr>
        <p:spPr>
          <a:xfrm>
            <a:off x="4389120" y="1143000"/>
            <a:ext cx="3429000" cy="150876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143000"/>
            <a:ext cx="64008" cy="150876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280160"/>
            <a:ext cx="3063240" cy="365760"/>
          </a:xfrm>
          <a:prstGeom prst="rect">
            <a:avLst/>
          </a:prstGeom>
          <a:noFill/>
        </p:spPr>
        <p:txBody>
          <a:bodyPr wrap="none">
            <a:spAutoFit/>
          </a:bodyPr>
          <a:lstStyle/>
          <a:p>
            <a:pPr>
              <a:defRPr sz="1600" b="1">
                <a:solidFill>
                  <a:srgbClr val="162642"/>
                </a:solidFill>
              </a:defRPr>
            </a:pPr>
            <a:r>
              <a:t>EMERGENCY SUPPORT</a:t>
            </a:r>
          </a:p>
        </p:txBody>
      </p:sp>
      <p:sp>
        <p:nvSpPr>
          <p:cNvPr id="13" name="TextBox 12"/>
          <p:cNvSpPr txBox="1"/>
          <p:nvPr/>
        </p:nvSpPr>
        <p:spPr>
          <a:xfrm>
            <a:off x="4590288" y="1737360"/>
            <a:ext cx="2465162" cy="477054"/>
          </a:xfrm>
          <a:prstGeom prst="rect">
            <a:avLst/>
          </a:prstGeom>
          <a:noFill/>
        </p:spPr>
        <p:txBody>
          <a:bodyPr wrap="none">
            <a:spAutoFit/>
          </a:bodyPr>
          <a:lstStyle/>
          <a:p>
            <a:pPr>
              <a:defRPr sz="1250">
                <a:solidFill>
                  <a:srgbClr val="1E2733"/>
                </a:solidFill>
              </a:defRPr>
            </a:pPr>
            <a:r>
              <a:rPr dirty="0"/>
              <a:t>Optional personal emergency plan </a:t>
            </a:r>
            <a:endParaRPr lang="en-IN" dirty="0"/>
          </a:p>
          <a:p>
            <a:pPr>
              <a:defRPr sz="1250">
                <a:solidFill>
                  <a:srgbClr val="1E2733"/>
                </a:solidFill>
              </a:defRPr>
            </a:pPr>
            <a:r>
              <a:rPr dirty="0"/>
              <a:t>and support information</a:t>
            </a:r>
          </a:p>
        </p:txBody>
      </p:sp>
      <p:sp>
        <p:nvSpPr>
          <p:cNvPr id="14" name="Rounded Rectangle 13"/>
          <p:cNvSpPr/>
          <p:nvPr/>
        </p:nvSpPr>
        <p:spPr>
          <a:xfrm>
            <a:off x="8092440" y="1143000"/>
            <a:ext cx="3429000" cy="150876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143000"/>
            <a:ext cx="64008" cy="150876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280160"/>
            <a:ext cx="3063240" cy="365760"/>
          </a:xfrm>
          <a:prstGeom prst="rect">
            <a:avLst/>
          </a:prstGeom>
          <a:noFill/>
        </p:spPr>
        <p:txBody>
          <a:bodyPr wrap="none">
            <a:spAutoFit/>
          </a:bodyPr>
          <a:lstStyle/>
          <a:p>
            <a:pPr>
              <a:defRPr sz="1600" b="1">
                <a:solidFill>
                  <a:srgbClr val="162642"/>
                </a:solidFill>
              </a:defRPr>
            </a:pPr>
            <a:r>
              <a:t>CONTACTS</a:t>
            </a:r>
          </a:p>
        </p:txBody>
      </p:sp>
      <p:sp>
        <p:nvSpPr>
          <p:cNvPr id="17" name="TextBox 16"/>
          <p:cNvSpPr txBox="1"/>
          <p:nvPr/>
        </p:nvSpPr>
        <p:spPr>
          <a:xfrm>
            <a:off x="8293608" y="1585619"/>
            <a:ext cx="1465338" cy="861774"/>
          </a:xfrm>
          <a:prstGeom prst="rect">
            <a:avLst/>
          </a:prstGeom>
          <a:noFill/>
        </p:spPr>
        <p:txBody>
          <a:bodyPr wrap="none">
            <a:spAutoFit/>
          </a:bodyPr>
          <a:lstStyle/>
          <a:p>
            <a:pPr>
              <a:defRPr sz="1250">
                <a:solidFill>
                  <a:srgbClr val="1E2733"/>
                </a:solidFill>
              </a:defRPr>
            </a:pPr>
            <a:r>
              <a:rPr lang="en-IN" dirty="0"/>
              <a:t>• </a:t>
            </a:r>
            <a:r>
              <a:rPr dirty="0"/>
              <a:t>Security </a:t>
            </a:r>
            <a:endParaRPr lang="en-IN" dirty="0"/>
          </a:p>
          <a:p>
            <a:pPr>
              <a:defRPr sz="1250">
                <a:solidFill>
                  <a:srgbClr val="1E2733"/>
                </a:solidFill>
              </a:defRPr>
            </a:pPr>
            <a:r>
              <a:rPr dirty="0"/>
              <a:t>• Facilities </a:t>
            </a:r>
            <a:endParaRPr lang="en-IN" dirty="0"/>
          </a:p>
          <a:p>
            <a:pPr>
              <a:defRPr sz="1250">
                <a:solidFill>
                  <a:srgbClr val="1E2733"/>
                </a:solidFill>
              </a:defRPr>
            </a:pPr>
            <a:r>
              <a:rPr dirty="0"/>
              <a:t>• Floor warden </a:t>
            </a:r>
            <a:endParaRPr lang="en-IN" dirty="0"/>
          </a:p>
          <a:p>
            <a:pPr>
              <a:defRPr sz="1250">
                <a:solidFill>
                  <a:srgbClr val="1E2733"/>
                </a:solidFill>
              </a:defRPr>
            </a:pPr>
            <a:r>
              <a:rPr dirty="0"/>
              <a:t>• Accessibility team</a:t>
            </a:r>
          </a:p>
        </p:txBody>
      </p:sp>
      <p:sp>
        <p:nvSpPr>
          <p:cNvPr id="18" name="TextBox 17"/>
          <p:cNvSpPr txBox="1"/>
          <p:nvPr/>
        </p:nvSpPr>
        <p:spPr>
          <a:xfrm>
            <a:off x="914400" y="3337560"/>
            <a:ext cx="10058400" cy="2011680"/>
          </a:xfrm>
          <a:prstGeom prst="rect">
            <a:avLst/>
          </a:prstGeom>
          <a:noFill/>
        </p:spPr>
        <p:txBody>
          <a:bodyPr wrap="square">
            <a:spAutoFit/>
          </a:bodyPr>
          <a:lstStyle/>
          <a:p>
            <a:pPr>
              <a:spcAft>
                <a:spcPts val="800"/>
              </a:spcAft>
              <a:defRPr sz="1800">
                <a:solidFill>
                  <a:srgbClr val="1E2733"/>
                </a:solidFill>
              </a:defRPr>
            </a:pPr>
            <a:r>
              <a:t>Important emergency communication should not depend only on sound.</a:t>
            </a:r>
          </a:p>
          <a:p>
            <a:pPr>
              <a:spcAft>
                <a:spcPts val="800"/>
              </a:spcAft>
              <a:defRPr sz="1800">
                <a:solidFill>
                  <a:srgbClr val="1E2733"/>
                </a:solidFill>
              </a:defRPr>
            </a:pPr>
            <a:r>
              <a:t>Provide visual / text alerts wherever the company's systems support them.</a:t>
            </a:r>
          </a:p>
          <a:p>
            <a:pPr>
              <a:spcAft>
                <a:spcPts val="800"/>
              </a:spcAft>
              <a:defRPr sz="1800">
                <a:solidFill>
                  <a:srgbClr val="1E2733"/>
                </a:solidFill>
              </a:defRPr>
            </a:pPr>
            <a:r>
              <a:t>Track accessibility gaps found during drills.</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9. Accessible Workplace Map</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FIND THE RIGHT PLACE</a:t>
            </a:r>
          </a:p>
        </p:txBody>
      </p:sp>
      <p:sp>
        <p:nvSpPr>
          <p:cNvPr id="6" name="Rounded Rectangle 5"/>
          <p:cNvSpPr/>
          <p:nvPr/>
        </p:nvSpPr>
        <p:spPr>
          <a:xfrm>
            <a:off x="685800" y="1143000"/>
            <a:ext cx="3429000" cy="155448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143000"/>
            <a:ext cx="64008" cy="155448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280160"/>
            <a:ext cx="3063240" cy="365760"/>
          </a:xfrm>
          <a:prstGeom prst="rect">
            <a:avLst/>
          </a:prstGeom>
          <a:noFill/>
        </p:spPr>
        <p:txBody>
          <a:bodyPr wrap="none">
            <a:spAutoFit/>
          </a:bodyPr>
          <a:lstStyle/>
          <a:p>
            <a:pPr>
              <a:defRPr sz="1600" b="1">
                <a:solidFill>
                  <a:srgbClr val="162642"/>
                </a:solidFill>
              </a:defRPr>
            </a:pPr>
            <a:r>
              <a:t>MEETING ROOMS</a:t>
            </a:r>
          </a:p>
        </p:txBody>
      </p:sp>
      <p:sp>
        <p:nvSpPr>
          <p:cNvPr id="9" name="TextBox 8"/>
          <p:cNvSpPr txBox="1"/>
          <p:nvPr/>
        </p:nvSpPr>
        <p:spPr>
          <a:xfrm>
            <a:off x="886968" y="1602534"/>
            <a:ext cx="1399294" cy="861774"/>
          </a:xfrm>
          <a:prstGeom prst="rect">
            <a:avLst/>
          </a:prstGeom>
          <a:noFill/>
        </p:spPr>
        <p:txBody>
          <a:bodyPr wrap="none">
            <a:spAutoFit/>
          </a:bodyPr>
          <a:lstStyle/>
          <a:p>
            <a:pPr>
              <a:defRPr sz="1250">
                <a:solidFill>
                  <a:srgbClr val="1E2733"/>
                </a:solidFill>
              </a:defRPr>
            </a:pPr>
            <a:r>
              <a:rPr lang="en-IN" dirty="0"/>
              <a:t>• </a:t>
            </a:r>
            <a:r>
              <a:rPr dirty="0"/>
              <a:t>Good lighting </a:t>
            </a:r>
            <a:endParaRPr lang="en-IN" dirty="0"/>
          </a:p>
          <a:p>
            <a:pPr>
              <a:defRPr sz="1250">
                <a:solidFill>
                  <a:srgbClr val="1E2733"/>
                </a:solidFill>
              </a:defRPr>
            </a:pPr>
            <a:r>
              <a:rPr dirty="0"/>
              <a:t>• low noise </a:t>
            </a:r>
            <a:endParaRPr lang="en-IN" dirty="0"/>
          </a:p>
          <a:p>
            <a:pPr>
              <a:defRPr sz="1250">
                <a:solidFill>
                  <a:srgbClr val="1E2733"/>
                </a:solidFill>
              </a:defRPr>
            </a:pPr>
            <a:r>
              <a:rPr dirty="0"/>
              <a:t>• large display </a:t>
            </a:r>
            <a:endParaRPr lang="en-IN" dirty="0"/>
          </a:p>
          <a:p>
            <a:pPr>
              <a:defRPr sz="1250">
                <a:solidFill>
                  <a:srgbClr val="1E2733"/>
                </a:solidFill>
              </a:defRPr>
            </a:pPr>
            <a:r>
              <a:rPr dirty="0"/>
              <a:t>• captions support</a:t>
            </a:r>
          </a:p>
        </p:txBody>
      </p:sp>
      <p:sp>
        <p:nvSpPr>
          <p:cNvPr id="10" name="Rounded Rectangle 9"/>
          <p:cNvSpPr/>
          <p:nvPr/>
        </p:nvSpPr>
        <p:spPr>
          <a:xfrm>
            <a:off x="4389120" y="1143000"/>
            <a:ext cx="3429000" cy="155448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143000"/>
            <a:ext cx="64008" cy="155448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280160"/>
            <a:ext cx="3063240" cy="365760"/>
          </a:xfrm>
          <a:prstGeom prst="rect">
            <a:avLst/>
          </a:prstGeom>
          <a:noFill/>
        </p:spPr>
        <p:txBody>
          <a:bodyPr wrap="none">
            <a:spAutoFit/>
          </a:bodyPr>
          <a:lstStyle/>
          <a:p>
            <a:pPr>
              <a:defRPr sz="1600" b="1">
                <a:solidFill>
                  <a:srgbClr val="162642"/>
                </a:solidFill>
              </a:defRPr>
            </a:pPr>
            <a:r>
              <a:t>ASSISTIVE EQUIPMENT</a:t>
            </a:r>
          </a:p>
        </p:txBody>
      </p:sp>
      <p:sp>
        <p:nvSpPr>
          <p:cNvPr id="13" name="TextBox 12"/>
          <p:cNvSpPr txBox="1"/>
          <p:nvPr/>
        </p:nvSpPr>
        <p:spPr>
          <a:xfrm>
            <a:off x="4590288" y="1649730"/>
            <a:ext cx="1829475" cy="669414"/>
          </a:xfrm>
          <a:prstGeom prst="rect">
            <a:avLst/>
          </a:prstGeom>
          <a:noFill/>
        </p:spPr>
        <p:txBody>
          <a:bodyPr wrap="none">
            <a:spAutoFit/>
          </a:bodyPr>
          <a:lstStyle/>
          <a:p>
            <a:pPr>
              <a:defRPr sz="1250">
                <a:solidFill>
                  <a:srgbClr val="1E2733"/>
                </a:solidFill>
              </a:defRPr>
            </a:pPr>
            <a:r>
              <a:rPr lang="en-IN" dirty="0"/>
              <a:t>• </a:t>
            </a:r>
            <a:r>
              <a:rPr dirty="0"/>
              <a:t>Hearing loops </a:t>
            </a:r>
            <a:endParaRPr lang="en-IN" dirty="0"/>
          </a:p>
          <a:p>
            <a:pPr>
              <a:defRPr sz="1250">
                <a:solidFill>
                  <a:srgbClr val="1E2733"/>
                </a:solidFill>
              </a:defRPr>
            </a:pPr>
            <a:r>
              <a:rPr dirty="0"/>
              <a:t>• FM systems </a:t>
            </a:r>
            <a:endParaRPr lang="en-IN" dirty="0"/>
          </a:p>
          <a:p>
            <a:pPr>
              <a:defRPr sz="1250">
                <a:solidFill>
                  <a:srgbClr val="1E2733"/>
                </a:solidFill>
              </a:defRPr>
            </a:pPr>
            <a:r>
              <a:rPr dirty="0"/>
              <a:t>• accessibility equipment</a:t>
            </a:r>
          </a:p>
        </p:txBody>
      </p:sp>
      <p:sp>
        <p:nvSpPr>
          <p:cNvPr id="14" name="Rounded Rectangle 13"/>
          <p:cNvSpPr/>
          <p:nvPr/>
        </p:nvSpPr>
        <p:spPr>
          <a:xfrm>
            <a:off x="8092440" y="1143000"/>
            <a:ext cx="3429000" cy="155448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143000"/>
            <a:ext cx="64008" cy="155448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280160"/>
            <a:ext cx="3063240" cy="365760"/>
          </a:xfrm>
          <a:prstGeom prst="rect">
            <a:avLst/>
          </a:prstGeom>
          <a:noFill/>
        </p:spPr>
        <p:txBody>
          <a:bodyPr wrap="none">
            <a:spAutoFit/>
          </a:bodyPr>
          <a:lstStyle/>
          <a:p>
            <a:pPr>
              <a:defRPr sz="1600" b="1">
                <a:solidFill>
                  <a:srgbClr val="162642"/>
                </a:solidFill>
              </a:defRPr>
            </a:pPr>
            <a:r>
              <a:t>FACILITIES</a:t>
            </a:r>
          </a:p>
        </p:txBody>
      </p:sp>
      <p:sp>
        <p:nvSpPr>
          <p:cNvPr id="17" name="TextBox 16"/>
          <p:cNvSpPr txBox="1"/>
          <p:nvPr/>
        </p:nvSpPr>
        <p:spPr>
          <a:xfrm>
            <a:off x="8293608" y="1641180"/>
            <a:ext cx="1688347" cy="861774"/>
          </a:xfrm>
          <a:prstGeom prst="rect">
            <a:avLst/>
          </a:prstGeom>
          <a:noFill/>
        </p:spPr>
        <p:txBody>
          <a:bodyPr wrap="none">
            <a:spAutoFit/>
          </a:bodyPr>
          <a:lstStyle/>
          <a:p>
            <a:pPr>
              <a:defRPr sz="1250">
                <a:solidFill>
                  <a:srgbClr val="1E2733"/>
                </a:solidFill>
              </a:defRPr>
            </a:pPr>
            <a:r>
              <a:rPr lang="en-IN" dirty="0"/>
              <a:t>• </a:t>
            </a:r>
            <a:r>
              <a:rPr dirty="0"/>
              <a:t>Accessible entrances </a:t>
            </a:r>
            <a:endParaRPr lang="en-IN" dirty="0"/>
          </a:p>
          <a:p>
            <a:pPr>
              <a:defRPr sz="1250">
                <a:solidFill>
                  <a:srgbClr val="1E2733"/>
                </a:solidFill>
              </a:defRPr>
            </a:pPr>
            <a:r>
              <a:rPr dirty="0"/>
              <a:t>• toilets </a:t>
            </a:r>
            <a:endParaRPr lang="en-IN" dirty="0"/>
          </a:p>
          <a:p>
            <a:pPr>
              <a:defRPr sz="1250">
                <a:solidFill>
                  <a:srgbClr val="1E2733"/>
                </a:solidFill>
              </a:defRPr>
            </a:pPr>
            <a:r>
              <a:rPr dirty="0"/>
              <a:t>• lifts </a:t>
            </a:r>
            <a:endParaRPr lang="en-IN" dirty="0"/>
          </a:p>
          <a:p>
            <a:pPr>
              <a:defRPr sz="1250">
                <a:solidFill>
                  <a:srgbClr val="1E2733"/>
                </a:solidFill>
              </a:defRPr>
            </a:pPr>
            <a:r>
              <a:rPr dirty="0"/>
              <a:t>• emergency exits</a:t>
            </a:r>
          </a:p>
        </p:txBody>
      </p:sp>
      <p:sp>
        <p:nvSpPr>
          <p:cNvPr id="18" name="TextBox 17"/>
          <p:cNvSpPr txBox="1"/>
          <p:nvPr/>
        </p:nvSpPr>
        <p:spPr>
          <a:xfrm>
            <a:off x="914400" y="3429000"/>
            <a:ext cx="10058400" cy="2011680"/>
          </a:xfrm>
          <a:prstGeom prst="rect">
            <a:avLst/>
          </a:prstGeom>
          <a:noFill/>
        </p:spPr>
        <p:txBody>
          <a:bodyPr wrap="square">
            <a:spAutoFit/>
          </a:bodyPr>
          <a:lstStyle/>
          <a:p>
            <a:pPr>
              <a:spcAft>
                <a:spcPts val="800"/>
              </a:spcAft>
              <a:defRPr sz="1800">
                <a:solidFill>
                  <a:srgbClr val="1E2733"/>
                </a:solidFill>
              </a:defRPr>
            </a:pPr>
            <a:r>
              <a:t>Search rooms by accessibility feature.</a:t>
            </a:r>
          </a:p>
          <a:p>
            <a:pPr>
              <a:spcAft>
                <a:spcPts val="800"/>
              </a:spcAft>
              <a:defRPr sz="1800">
                <a:solidFill>
                  <a:srgbClr val="1E2733"/>
                </a:solidFill>
              </a:defRPr>
            </a:pPr>
            <a:r>
              <a:t>Show accessibility information before booking.</a:t>
            </a:r>
          </a:p>
          <a:p>
            <a:pPr>
              <a:spcAft>
                <a:spcPts val="800"/>
              </a:spcAft>
              <a:defRPr sz="1800">
                <a:solidFill>
                  <a:srgbClr val="1E2733"/>
                </a:solidFill>
              </a:defRPr>
            </a:pPr>
            <a:r>
              <a:t>Let employees report incorrect information.</a:t>
            </a:r>
          </a:p>
          <a:p>
            <a:pPr>
              <a:spcAft>
                <a:spcPts val="800"/>
              </a:spcAft>
              <a:defRPr sz="1800">
                <a:solidFill>
                  <a:srgbClr val="1E2733"/>
                </a:solidFill>
              </a:defRPr>
            </a:pPr>
            <a:r>
              <a:t>Start with one office / building and expand later.</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10. Accessibility Toolkit + ISL</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SELF-SERVICE</a:t>
            </a:r>
          </a:p>
        </p:txBody>
      </p:sp>
      <p:sp>
        <p:nvSpPr>
          <p:cNvPr id="6" name="Rounded Rectangle 5"/>
          <p:cNvSpPr/>
          <p:nvPr/>
        </p:nvSpPr>
        <p:spPr>
          <a:xfrm>
            <a:off x="685800" y="1097280"/>
            <a:ext cx="5303520" cy="14173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097280"/>
            <a:ext cx="64008" cy="141732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234439"/>
            <a:ext cx="4937759" cy="365760"/>
          </a:xfrm>
          <a:prstGeom prst="rect">
            <a:avLst/>
          </a:prstGeom>
          <a:noFill/>
        </p:spPr>
        <p:txBody>
          <a:bodyPr wrap="none">
            <a:spAutoFit/>
          </a:bodyPr>
          <a:lstStyle/>
          <a:p>
            <a:pPr>
              <a:defRPr sz="1600" b="1">
                <a:solidFill>
                  <a:srgbClr val="162642"/>
                </a:solidFill>
              </a:defRPr>
            </a:pPr>
            <a:r>
              <a:t>TEAMS</a:t>
            </a:r>
          </a:p>
        </p:txBody>
      </p:sp>
      <p:sp>
        <p:nvSpPr>
          <p:cNvPr id="9" name="TextBox 8"/>
          <p:cNvSpPr txBox="1"/>
          <p:nvPr/>
        </p:nvSpPr>
        <p:spPr>
          <a:xfrm>
            <a:off x="886968" y="1691640"/>
            <a:ext cx="4937759" cy="685800"/>
          </a:xfrm>
          <a:prstGeom prst="rect">
            <a:avLst/>
          </a:prstGeom>
          <a:noFill/>
        </p:spPr>
        <p:txBody>
          <a:bodyPr wrap="none">
            <a:spAutoFit/>
          </a:bodyPr>
          <a:lstStyle/>
          <a:p>
            <a:pPr>
              <a:defRPr sz="1250">
                <a:solidFill>
                  <a:srgbClr val="1E2733"/>
                </a:solidFill>
              </a:defRPr>
            </a:pPr>
            <a:r>
              <a:t>Captions • Sign Language Mode • Transcription • RTT • meeting tips</a:t>
            </a:r>
          </a:p>
        </p:txBody>
      </p:sp>
      <p:sp>
        <p:nvSpPr>
          <p:cNvPr id="10" name="Rounded Rectangle 9"/>
          <p:cNvSpPr/>
          <p:nvPr/>
        </p:nvSpPr>
        <p:spPr>
          <a:xfrm>
            <a:off x="6217920" y="1097280"/>
            <a:ext cx="5303520" cy="14173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097280"/>
            <a:ext cx="64008" cy="141732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234439"/>
            <a:ext cx="4937759" cy="365760"/>
          </a:xfrm>
          <a:prstGeom prst="rect">
            <a:avLst/>
          </a:prstGeom>
          <a:noFill/>
        </p:spPr>
        <p:txBody>
          <a:bodyPr wrap="none">
            <a:spAutoFit/>
          </a:bodyPr>
          <a:lstStyle/>
          <a:p>
            <a:pPr>
              <a:defRPr sz="1600" b="1">
                <a:solidFill>
                  <a:srgbClr val="162642"/>
                </a:solidFill>
              </a:defRPr>
            </a:pPr>
            <a:r>
              <a:t>WINDOWS / M365</a:t>
            </a:r>
          </a:p>
        </p:txBody>
      </p:sp>
      <p:sp>
        <p:nvSpPr>
          <p:cNvPr id="13" name="TextBox 12"/>
          <p:cNvSpPr txBox="1"/>
          <p:nvPr/>
        </p:nvSpPr>
        <p:spPr>
          <a:xfrm>
            <a:off x="6419088" y="1691640"/>
            <a:ext cx="4937759" cy="685800"/>
          </a:xfrm>
          <a:prstGeom prst="rect">
            <a:avLst/>
          </a:prstGeom>
          <a:noFill/>
        </p:spPr>
        <p:txBody>
          <a:bodyPr wrap="none">
            <a:spAutoFit/>
          </a:bodyPr>
          <a:lstStyle/>
          <a:p>
            <a:pPr>
              <a:defRPr sz="1250">
                <a:solidFill>
                  <a:srgbClr val="1E2733"/>
                </a:solidFill>
              </a:defRPr>
            </a:pPr>
            <a:r>
              <a:t>Visual alerts • accessibility settings • accessible documents</a:t>
            </a:r>
          </a:p>
        </p:txBody>
      </p:sp>
      <p:sp>
        <p:nvSpPr>
          <p:cNvPr id="14" name="Rounded Rectangle 13"/>
          <p:cNvSpPr/>
          <p:nvPr/>
        </p:nvSpPr>
        <p:spPr>
          <a:xfrm>
            <a:off x="685800" y="2926080"/>
            <a:ext cx="5303520" cy="14173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800" y="2926080"/>
            <a:ext cx="64008" cy="141732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3063240"/>
            <a:ext cx="4937759" cy="365760"/>
          </a:xfrm>
          <a:prstGeom prst="rect">
            <a:avLst/>
          </a:prstGeom>
          <a:noFill/>
        </p:spPr>
        <p:txBody>
          <a:bodyPr wrap="none">
            <a:spAutoFit/>
          </a:bodyPr>
          <a:lstStyle/>
          <a:p>
            <a:pPr>
              <a:defRPr sz="1600" b="1">
                <a:solidFill>
                  <a:srgbClr val="162642"/>
                </a:solidFill>
              </a:defRPr>
            </a:pPr>
            <a:r>
              <a:t>ISL BASICS</a:t>
            </a:r>
          </a:p>
        </p:txBody>
      </p:sp>
      <p:sp>
        <p:nvSpPr>
          <p:cNvPr id="17" name="TextBox 16"/>
          <p:cNvSpPr txBox="1"/>
          <p:nvPr/>
        </p:nvSpPr>
        <p:spPr>
          <a:xfrm>
            <a:off x="886968" y="3520440"/>
            <a:ext cx="4937759" cy="685800"/>
          </a:xfrm>
          <a:prstGeom prst="rect">
            <a:avLst/>
          </a:prstGeom>
          <a:noFill/>
        </p:spPr>
        <p:txBody>
          <a:bodyPr wrap="none">
            <a:spAutoFit/>
          </a:bodyPr>
          <a:lstStyle/>
          <a:p>
            <a:pPr>
              <a:defRPr sz="1250">
                <a:solidFill>
                  <a:srgbClr val="1E2733"/>
                </a:solidFill>
              </a:defRPr>
            </a:pPr>
            <a:r>
              <a:t>Short videos for greetings, workplace words and emergency signs.</a:t>
            </a:r>
          </a:p>
        </p:txBody>
      </p:sp>
      <p:sp>
        <p:nvSpPr>
          <p:cNvPr id="18" name="Rounded Rectangle 17"/>
          <p:cNvSpPr/>
          <p:nvPr/>
        </p:nvSpPr>
        <p:spPr>
          <a:xfrm>
            <a:off x="6217920" y="2926080"/>
            <a:ext cx="5303520" cy="14173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2926080"/>
            <a:ext cx="64008" cy="1417320"/>
          </a:xfrm>
          <a:prstGeom prst="rect">
            <a:avLst/>
          </a:prstGeom>
          <a:solidFill>
            <a:srgbClr val="DD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3063240"/>
            <a:ext cx="4937759" cy="365760"/>
          </a:xfrm>
          <a:prstGeom prst="rect">
            <a:avLst/>
          </a:prstGeom>
          <a:noFill/>
        </p:spPr>
        <p:txBody>
          <a:bodyPr wrap="none">
            <a:spAutoFit/>
          </a:bodyPr>
          <a:lstStyle/>
          <a:p>
            <a:pPr>
              <a:defRPr sz="1600" b="1">
                <a:solidFill>
                  <a:srgbClr val="162642"/>
                </a:solidFill>
              </a:defRPr>
            </a:pPr>
            <a:r>
              <a:t>MANAGER GUIDE</a:t>
            </a:r>
          </a:p>
        </p:txBody>
      </p:sp>
      <p:sp>
        <p:nvSpPr>
          <p:cNvPr id="21" name="TextBox 20"/>
          <p:cNvSpPr txBox="1"/>
          <p:nvPr/>
        </p:nvSpPr>
        <p:spPr>
          <a:xfrm>
            <a:off x="6419088" y="3520440"/>
            <a:ext cx="4937759" cy="685800"/>
          </a:xfrm>
          <a:prstGeom prst="rect">
            <a:avLst/>
          </a:prstGeom>
          <a:noFill/>
        </p:spPr>
        <p:txBody>
          <a:bodyPr wrap="none">
            <a:spAutoFit/>
          </a:bodyPr>
          <a:lstStyle/>
          <a:p>
            <a:pPr>
              <a:defRPr sz="1250">
                <a:solidFill>
                  <a:srgbClr val="1E2733"/>
                </a:solidFill>
              </a:defRPr>
            </a:pPr>
            <a:r>
              <a:t>How to communicate with Deaf colleagues and run accessible meetings.</a:t>
            </a:r>
          </a:p>
        </p:txBody>
      </p:sp>
      <p:sp>
        <p:nvSpPr>
          <p:cNvPr id="22" name="TextBox 21"/>
          <p:cNvSpPr txBox="1"/>
          <p:nvPr/>
        </p:nvSpPr>
        <p:spPr>
          <a:xfrm>
            <a:off x="914400" y="4983480"/>
            <a:ext cx="10058400" cy="914400"/>
          </a:xfrm>
          <a:prstGeom prst="rect">
            <a:avLst/>
          </a:prstGeom>
          <a:noFill/>
        </p:spPr>
        <p:txBody>
          <a:bodyPr wrap="square">
            <a:spAutoFit/>
          </a:bodyPr>
          <a:lstStyle/>
          <a:p>
            <a:pPr>
              <a:spcAft>
                <a:spcPts val="800"/>
              </a:spcAft>
              <a:defRPr sz="1500">
                <a:solidFill>
                  <a:srgbClr val="1E2733"/>
                </a:solidFill>
              </a:defRPr>
            </a:pPr>
            <a:r>
              <a:t>Keep instructions short. Use screenshots, captions and videos.</a:t>
            </a:r>
          </a:p>
          <a:p>
            <a:pPr>
              <a:spcAft>
                <a:spcPts val="800"/>
              </a:spcAft>
              <a:defRPr sz="1500">
                <a:solidFill>
                  <a:srgbClr val="1E2733"/>
                </a:solidFill>
              </a:defRPr>
            </a:pPr>
            <a:r>
              <a:t>Use approved internal guidance and keep content updated.</a:t>
            </a:r>
          </a:p>
        </p:txBody>
      </p:sp>
      <p:sp>
        <p:nvSpPr>
          <p:cNvPr id="23" name="TextBox 22"/>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11. Buddy + Community</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BELONGING</a:t>
            </a:r>
          </a:p>
        </p:txBody>
      </p:sp>
      <p:sp>
        <p:nvSpPr>
          <p:cNvPr id="6" name="Rounded Rectangle 5"/>
          <p:cNvSpPr/>
          <p:nvPr/>
        </p:nvSpPr>
        <p:spPr>
          <a:xfrm>
            <a:off x="685800" y="1143000"/>
            <a:ext cx="3429000" cy="16002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143000"/>
            <a:ext cx="64008" cy="16002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280160"/>
            <a:ext cx="3063240" cy="365760"/>
          </a:xfrm>
          <a:prstGeom prst="rect">
            <a:avLst/>
          </a:prstGeom>
          <a:noFill/>
        </p:spPr>
        <p:txBody>
          <a:bodyPr wrap="none">
            <a:spAutoFit/>
          </a:bodyPr>
          <a:lstStyle/>
          <a:p>
            <a:pPr>
              <a:defRPr sz="1600" b="1">
                <a:solidFill>
                  <a:srgbClr val="162642"/>
                </a:solidFill>
              </a:defRPr>
            </a:pPr>
            <a:r>
              <a:t>PwD BUDDY</a:t>
            </a:r>
          </a:p>
        </p:txBody>
      </p:sp>
      <p:sp>
        <p:nvSpPr>
          <p:cNvPr id="9" name="TextBox 8"/>
          <p:cNvSpPr txBox="1"/>
          <p:nvPr/>
        </p:nvSpPr>
        <p:spPr>
          <a:xfrm>
            <a:off x="886968" y="1737360"/>
            <a:ext cx="2411366" cy="477054"/>
          </a:xfrm>
          <a:prstGeom prst="rect">
            <a:avLst/>
          </a:prstGeom>
          <a:noFill/>
        </p:spPr>
        <p:txBody>
          <a:bodyPr wrap="none">
            <a:spAutoFit/>
          </a:bodyPr>
          <a:lstStyle/>
          <a:p>
            <a:pPr>
              <a:defRPr sz="1250">
                <a:solidFill>
                  <a:srgbClr val="1E2733"/>
                </a:solidFill>
              </a:defRPr>
            </a:pPr>
            <a:r>
              <a:rPr dirty="0"/>
              <a:t>New employees can connect with </a:t>
            </a:r>
            <a:endParaRPr lang="en-IN" dirty="0"/>
          </a:p>
          <a:p>
            <a:pPr>
              <a:defRPr sz="1250">
                <a:solidFill>
                  <a:srgbClr val="1E2733"/>
                </a:solidFill>
              </a:defRPr>
            </a:pPr>
            <a:r>
              <a:rPr dirty="0"/>
              <a:t>experienced volunteers.</a:t>
            </a:r>
          </a:p>
        </p:txBody>
      </p:sp>
      <p:sp>
        <p:nvSpPr>
          <p:cNvPr id="10" name="Rounded Rectangle 9"/>
          <p:cNvSpPr/>
          <p:nvPr/>
        </p:nvSpPr>
        <p:spPr>
          <a:xfrm>
            <a:off x="4389120" y="1143000"/>
            <a:ext cx="3429000" cy="16002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143000"/>
            <a:ext cx="64008" cy="160020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280160"/>
            <a:ext cx="3063240" cy="365760"/>
          </a:xfrm>
          <a:prstGeom prst="rect">
            <a:avLst/>
          </a:prstGeom>
          <a:noFill/>
        </p:spPr>
        <p:txBody>
          <a:bodyPr wrap="none">
            <a:spAutoFit/>
          </a:bodyPr>
          <a:lstStyle/>
          <a:p>
            <a:pPr>
              <a:defRPr sz="1600" b="1">
                <a:solidFill>
                  <a:srgbClr val="162642"/>
                </a:solidFill>
              </a:defRPr>
            </a:pPr>
            <a:r>
              <a:t>COMMUNITY</a:t>
            </a:r>
          </a:p>
        </p:txBody>
      </p:sp>
      <p:sp>
        <p:nvSpPr>
          <p:cNvPr id="13" name="TextBox 12"/>
          <p:cNvSpPr txBox="1"/>
          <p:nvPr/>
        </p:nvSpPr>
        <p:spPr>
          <a:xfrm>
            <a:off x="4590288" y="1666899"/>
            <a:ext cx="1416029" cy="861774"/>
          </a:xfrm>
          <a:prstGeom prst="rect">
            <a:avLst/>
          </a:prstGeom>
          <a:noFill/>
        </p:spPr>
        <p:txBody>
          <a:bodyPr wrap="none">
            <a:spAutoFit/>
          </a:bodyPr>
          <a:lstStyle/>
          <a:p>
            <a:pPr>
              <a:defRPr sz="1250">
                <a:solidFill>
                  <a:srgbClr val="1E2733"/>
                </a:solidFill>
              </a:defRPr>
            </a:pPr>
            <a:r>
              <a:rPr lang="en-IN" dirty="0"/>
              <a:t>• </a:t>
            </a:r>
            <a:r>
              <a:rPr dirty="0"/>
              <a:t>Events </a:t>
            </a:r>
            <a:endParaRPr lang="en-IN" dirty="0"/>
          </a:p>
          <a:p>
            <a:pPr>
              <a:defRPr sz="1250">
                <a:solidFill>
                  <a:srgbClr val="1E2733"/>
                </a:solidFill>
              </a:defRPr>
            </a:pPr>
            <a:r>
              <a:rPr dirty="0"/>
              <a:t>• awareness days </a:t>
            </a:r>
            <a:endParaRPr lang="en-IN" dirty="0"/>
          </a:p>
          <a:p>
            <a:pPr>
              <a:defRPr sz="1250">
                <a:solidFill>
                  <a:srgbClr val="1E2733"/>
                </a:solidFill>
              </a:defRPr>
            </a:pPr>
            <a:r>
              <a:rPr dirty="0"/>
              <a:t>• resources </a:t>
            </a:r>
            <a:endParaRPr lang="en-IN" dirty="0"/>
          </a:p>
          <a:p>
            <a:pPr>
              <a:defRPr sz="1250">
                <a:solidFill>
                  <a:srgbClr val="1E2733"/>
                </a:solidFill>
              </a:defRPr>
            </a:pPr>
            <a:r>
              <a:rPr dirty="0"/>
              <a:t>• employee stories</a:t>
            </a:r>
          </a:p>
        </p:txBody>
      </p:sp>
      <p:sp>
        <p:nvSpPr>
          <p:cNvPr id="14" name="Rounded Rectangle 13"/>
          <p:cNvSpPr/>
          <p:nvPr/>
        </p:nvSpPr>
        <p:spPr>
          <a:xfrm>
            <a:off x="8092440" y="1143000"/>
            <a:ext cx="3429000" cy="16002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143000"/>
            <a:ext cx="64008" cy="160020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280160"/>
            <a:ext cx="3063240" cy="365760"/>
          </a:xfrm>
          <a:prstGeom prst="rect">
            <a:avLst/>
          </a:prstGeom>
          <a:noFill/>
        </p:spPr>
        <p:txBody>
          <a:bodyPr wrap="none">
            <a:spAutoFit/>
          </a:bodyPr>
          <a:lstStyle/>
          <a:p>
            <a:pPr>
              <a:defRPr sz="1600" b="1">
                <a:solidFill>
                  <a:srgbClr val="162642"/>
                </a:solidFill>
              </a:defRPr>
            </a:pPr>
            <a:r>
              <a:t>ALLY NETWORK</a:t>
            </a:r>
          </a:p>
        </p:txBody>
      </p:sp>
      <p:sp>
        <p:nvSpPr>
          <p:cNvPr id="17" name="TextBox 16"/>
          <p:cNvSpPr txBox="1"/>
          <p:nvPr/>
        </p:nvSpPr>
        <p:spPr>
          <a:xfrm>
            <a:off x="8293608" y="1737360"/>
            <a:ext cx="2678041" cy="477054"/>
          </a:xfrm>
          <a:prstGeom prst="rect">
            <a:avLst/>
          </a:prstGeom>
          <a:noFill/>
        </p:spPr>
        <p:txBody>
          <a:bodyPr wrap="none">
            <a:spAutoFit/>
          </a:bodyPr>
          <a:lstStyle/>
          <a:p>
            <a:pPr>
              <a:defRPr sz="1250">
                <a:solidFill>
                  <a:srgbClr val="1E2733"/>
                </a:solidFill>
              </a:defRPr>
            </a:pPr>
            <a:r>
              <a:rPr dirty="0"/>
              <a:t>Hearing colleagues can learn practical </a:t>
            </a:r>
            <a:endParaRPr lang="en-IN" dirty="0"/>
          </a:p>
          <a:p>
            <a:pPr>
              <a:defRPr sz="1250">
                <a:solidFill>
                  <a:srgbClr val="1E2733"/>
                </a:solidFill>
              </a:defRPr>
            </a:pPr>
            <a:r>
              <a:rPr dirty="0"/>
              <a:t>accessibility habits and ISL basics.</a:t>
            </a:r>
          </a:p>
        </p:txBody>
      </p:sp>
      <p:sp>
        <p:nvSpPr>
          <p:cNvPr id="18" name="TextBox 17"/>
          <p:cNvSpPr txBox="1"/>
          <p:nvPr/>
        </p:nvSpPr>
        <p:spPr>
          <a:xfrm>
            <a:off x="914400" y="3474720"/>
            <a:ext cx="10058400" cy="1828800"/>
          </a:xfrm>
          <a:prstGeom prst="rect">
            <a:avLst/>
          </a:prstGeom>
          <a:noFill/>
        </p:spPr>
        <p:txBody>
          <a:bodyPr wrap="square">
            <a:spAutoFit/>
          </a:bodyPr>
          <a:lstStyle/>
          <a:p>
            <a:pPr>
              <a:spcAft>
                <a:spcPts val="800"/>
              </a:spcAft>
              <a:defRPr sz="1800">
                <a:solidFill>
                  <a:srgbClr val="1E2733"/>
                </a:solidFill>
              </a:defRPr>
            </a:pPr>
            <a:r>
              <a:t>Accessible wellbeing and support resources.</a:t>
            </a:r>
          </a:p>
          <a:p>
            <a:pPr>
              <a:spcAft>
                <a:spcPts val="800"/>
              </a:spcAft>
              <a:defRPr sz="1800">
                <a:solidFill>
                  <a:srgbClr val="1E2733"/>
                </a:solidFill>
              </a:defRPr>
            </a:pPr>
            <a:r>
              <a:t>Anonymous suggestions and feedback.</a:t>
            </a:r>
          </a:p>
          <a:p>
            <a:pPr>
              <a:spcAft>
                <a:spcPts val="800"/>
              </a:spcAft>
              <a:defRPr sz="1800">
                <a:solidFill>
                  <a:srgbClr val="1E2733"/>
                </a:solidFill>
              </a:defRPr>
            </a:pPr>
            <a:r>
              <a:t>Captioned / signed community content where possible.</a:t>
            </a:r>
          </a:p>
        </p:txBody>
      </p:sp>
      <p:sp>
        <p:nvSpPr>
          <p:cNvPr id="19" name="TextBox 18"/>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12. Manager View</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MAKE SUPPORT EASY</a:t>
            </a:r>
          </a:p>
        </p:txBody>
      </p:sp>
      <p:sp>
        <p:nvSpPr>
          <p:cNvPr id="6" name="Rounded Rectangle 5"/>
          <p:cNvSpPr/>
          <p:nvPr/>
        </p:nvSpPr>
        <p:spPr>
          <a:xfrm>
            <a:off x="685800" y="1097280"/>
            <a:ext cx="530352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097280"/>
            <a:ext cx="64008" cy="18288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234439"/>
            <a:ext cx="4937759" cy="365760"/>
          </a:xfrm>
          <a:prstGeom prst="rect">
            <a:avLst/>
          </a:prstGeom>
          <a:noFill/>
        </p:spPr>
        <p:txBody>
          <a:bodyPr wrap="none">
            <a:spAutoFit/>
          </a:bodyPr>
          <a:lstStyle/>
          <a:p>
            <a:pPr>
              <a:defRPr sz="1600" b="1">
                <a:solidFill>
                  <a:srgbClr val="162642"/>
                </a:solidFill>
              </a:defRPr>
            </a:pPr>
            <a:r>
              <a:t>WHAT MANAGERS CAN DO</a:t>
            </a:r>
          </a:p>
        </p:txBody>
      </p:sp>
      <p:sp>
        <p:nvSpPr>
          <p:cNvPr id="9" name="TextBox 8"/>
          <p:cNvSpPr txBox="1"/>
          <p:nvPr/>
        </p:nvSpPr>
        <p:spPr>
          <a:xfrm>
            <a:off x="886968" y="1691640"/>
            <a:ext cx="4937759" cy="1097280"/>
          </a:xfrm>
          <a:prstGeom prst="rect">
            <a:avLst/>
          </a:prstGeom>
          <a:noFill/>
        </p:spPr>
        <p:txBody>
          <a:bodyPr wrap="none">
            <a:spAutoFit/>
          </a:bodyPr>
          <a:lstStyle/>
          <a:p>
            <a:pPr>
              <a:defRPr sz="1250">
                <a:solidFill>
                  <a:srgbClr val="1E2733"/>
                </a:solidFill>
              </a:defRPr>
            </a:pPr>
            <a:r>
              <a:t>• Raise a request for an employee</a:t>
            </a:r>
            <a:br/>
            <a:r>
              <a:t>• See actions waiting for them</a:t>
            </a:r>
            <a:br/>
            <a:r>
              <a:t>• Confirm meeting accessibility</a:t>
            </a:r>
            <a:br/>
            <a:r>
              <a:t>• Follow onboarding support tasks</a:t>
            </a:r>
          </a:p>
        </p:txBody>
      </p:sp>
      <p:sp>
        <p:nvSpPr>
          <p:cNvPr id="10" name="Rounded Rectangle 9"/>
          <p:cNvSpPr/>
          <p:nvPr/>
        </p:nvSpPr>
        <p:spPr>
          <a:xfrm>
            <a:off x="6217920" y="1097280"/>
            <a:ext cx="530352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097280"/>
            <a:ext cx="64008" cy="182880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234439"/>
            <a:ext cx="4937759" cy="365760"/>
          </a:xfrm>
          <a:prstGeom prst="rect">
            <a:avLst/>
          </a:prstGeom>
          <a:noFill/>
        </p:spPr>
        <p:txBody>
          <a:bodyPr wrap="none">
            <a:spAutoFit/>
          </a:bodyPr>
          <a:lstStyle/>
          <a:p>
            <a:pPr>
              <a:defRPr sz="1600" b="1">
                <a:solidFill>
                  <a:srgbClr val="162642"/>
                </a:solidFill>
              </a:defRPr>
            </a:pPr>
            <a:r>
              <a:t>AUTOMATIC REMINDERS</a:t>
            </a:r>
          </a:p>
        </p:txBody>
      </p:sp>
      <p:sp>
        <p:nvSpPr>
          <p:cNvPr id="13" name="TextBox 12"/>
          <p:cNvSpPr txBox="1"/>
          <p:nvPr/>
        </p:nvSpPr>
        <p:spPr>
          <a:xfrm>
            <a:off x="6419088" y="1691640"/>
            <a:ext cx="4362476" cy="477054"/>
          </a:xfrm>
          <a:prstGeom prst="rect">
            <a:avLst/>
          </a:prstGeom>
          <a:noFill/>
        </p:spPr>
        <p:txBody>
          <a:bodyPr wrap="none">
            <a:spAutoFit/>
          </a:bodyPr>
          <a:lstStyle/>
          <a:p>
            <a:pPr>
              <a:defRPr sz="1250">
                <a:solidFill>
                  <a:srgbClr val="1E2733"/>
                </a:solidFill>
              </a:defRPr>
            </a:pPr>
            <a:r>
              <a:rPr dirty="0"/>
              <a:t>Example: 'Tomorrow's meeting has an accessibility requirement.</a:t>
            </a:r>
            <a:endParaRPr lang="en-IN" dirty="0"/>
          </a:p>
          <a:p>
            <a:pPr>
              <a:defRPr sz="1250">
                <a:solidFill>
                  <a:srgbClr val="1E2733"/>
                </a:solidFill>
              </a:defRPr>
            </a:pPr>
            <a:r>
              <a:rPr dirty="0"/>
              <a:t> Please confirm interpreter / captions.'</a:t>
            </a:r>
          </a:p>
        </p:txBody>
      </p:sp>
      <p:sp>
        <p:nvSpPr>
          <p:cNvPr id="14" name="Rounded Rectangle 13"/>
          <p:cNvSpPr/>
          <p:nvPr/>
        </p:nvSpPr>
        <p:spPr>
          <a:xfrm>
            <a:off x="685800" y="3429000"/>
            <a:ext cx="530352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800" y="3429000"/>
            <a:ext cx="64008" cy="182880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3566160"/>
            <a:ext cx="4937759" cy="365760"/>
          </a:xfrm>
          <a:prstGeom prst="rect">
            <a:avLst/>
          </a:prstGeom>
          <a:noFill/>
        </p:spPr>
        <p:txBody>
          <a:bodyPr wrap="none">
            <a:spAutoFit/>
          </a:bodyPr>
          <a:lstStyle/>
          <a:p>
            <a:pPr>
              <a:defRPr sz="1600" b="1">
                <a:solidFill>
                  <a:srgbClr val="162642"/>
                </a:solidFill>
              </a:defRPr>
            </a:pPr>
            <a:r>
              <a:t>PRIVACY</a:t>
            </a:r>
          </a:p>
        </p:txBody>
      </p:sp>
      <p:sp>
        <p:nvSpPr>
          <p:cNvPr id="17" name="TextBox 16"/>
          <p:cNvSpPr txBox="1"/>
          <p:nvPr/>
        </p:nvSpPr>
        <p:spPr>
          <a:xfrm>
            <a:off x="886968" y="4023360"/>
            <a:ext cx="4379917" cy="477054"/>
          </a:xfrm>
          <a:prstGeom prst="rect">
            <a:avLst/>
          </a:prstGeom>
          <a:noFill/>
        </p:spPr>
        <p:txBody>
          <a:bodyPr wrap="none">
            <a:spAutoFit/>
          </a:bodyPr>
          <a:lstStyle/>
          <a:p>
            <a:pPr>
              <a:defRPr sz="1250">
                <a:solidFill>
                  <a:srgbClr val="1E2733"/>
                </a:solidFill>
              </a:defRPr>
            </a:pPr>
            <a:r>
              <a:rPr dirty="0"/>
              <a:t>Show the minimum information needed for the manager to act. </a:t>
            </a:r>
            <a:endParaRPr lang="en-IN" dirty="0"/>
          </a:p>
          <a:p>
            <a:pPr>
              <a:defRPr sz="1250">
                <a:solidFill>
                  <a:srgbClr val="1E2733"/>
                </a:solidFill>
              </a:defRPr>
            </a:pPr>
            <a:r>
              <a:rPr dirty="0"/>
              <a:t>Avoid unnecessary medical details.</a:t>
            </a:r>
          </a:p>
        </p:txBody>
      </p:sp>
      <p:sp>
        <p:nvSpPr>
          <p:cNvPr id="18" name="Rounded Rectangle 17"/>
          <p:cNvSpPr/>
          <p:nvPr/>
        </p:nvSpPr>
        <p:spPr>
          <a:xfrm>
            <a:off x="6217920" y="3429000"/>
            <a:ext cx="5303520" cy="18288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3429000"/>
            <a:ext cx="64008" cy="1828800"/>
          </a:xfrm>
          <a:prstGeom prst="rect">
            <a:avLst/>
          </a:prstGeom>
          <a:solidFill>
            <a:srgbClr val="DD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3566160"/>
            <a:ext cx="4937759" cy="365760"/>
          </a:xfrm>
          <a:prstGeom prst="rect">
            <a:avLst/>
          </a:prstGeom>
          <a:noFill/>
        </p:spPr>
        <p:txBody>
          <a:bodyPr wrap="none">
            <a:spAutoFit/>
          </a:bodyPr>
          <a:lstStyle/>
          <a:p>
            <a:pPr>
              <a:defRPr sz="1600" b="1">
                <a:solidFill>
                  <a:srgbClr val="162642"/>
                </a:solidFill>
              </a:defRPr>
            </a:pPr>
            <a:r>
              <a:t>ACCESSIBILITY TEAM</a:t>
            </a:r>
          </a:p>
        </p:txBody>
      </p:sp>
      <p:sp>
        <p:nvSpPr>
          <p:cNvPr id="21" name="TextBox 20"/>
          <p:cNvSpPr txBox="1"/>
          <p:nvPr/>
        </p:nvSpPr>
        <p:spPr>
          <a:xfrm>
            <a:off x="6419088" y="4023360"/>
            <a:ext cx="4293996" cy="477054"/>
          </a:xfrm>
          <a:prstGeom prst="rect">
            <a:avLst/>
          </a:prstGeom>
          <a:noFill/>
        </p:spPr>
        <p:txBody>
          <a:bodyPr wrap="none">
            <a:spAutoFit/>
          </a:bodyPr>
          <a:lstStyle/>
          <a:p>
            <a:pPr>
              <a:defRPr sz="1250">
                <a:solidFill>
                  <a:srgbClr val="1E2733"/>
                </a:solidFill>
              </a:defRPr>
            </a:pPr>
            <a:r>
              <a:rPr dirty="0"/>
              <a:t>Manage requests, assign owners, track SLA, handle escalations </a:t>
            </a:r>
            <a:endParaRPr lang="en-IN" dirty="0"/>
          </a:p>
          <a:p>
            <a:pPr>
              <a:defRPr sz="1250">
                <a:solidFill>
                  <a:srgbClr val="1E2733"/>
                </a:solidFill>
              </a:defRPr>
            </a:pPr>
            <a:r>
              <a:rPr dirty="0"/>
              <a:t>and review feedback.</a:t>
            </a:r>
          </a:p>
        </p:txBody>
      </p:sp>
      <p:sp>
        <p:nvSpPr>
          <p:cNvPr id="22" name="TextBox 21"/>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13. Analytics</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SHOW THE VALUE</a:t>
            </a:r>
          </a:p>
        </p:txBody>
      </p:sp>
      <p:sp>
        <p:nvSpPr>
          <p:cNvPr id="6" name="Rounded Rectangle 5"/>
          <p:cNvSpPr/>
          <p:nvPr/>
        </p:nvSpPr>
        <p:spPr>
          <a:xfrm>
            <a:off x="594360" y="1097280"/>
            <a:ext cx="2468880" cy="123444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097280"/>
            <a:ext cx="64008" cy="123444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234439"/>
            <a:ext cx="2103120" cy="365760"/>
          </a:xfrm>
          <a:prstGeom prst="rect">
            <a:avLst/>
          </a:prstGeom>
          <a:noFill/>
        </p:spPr>
        <p:txBody>
          <a:bodyPr wrap="none">
            <a:spAutoFit/>
          </a:bodyPr>
          <a:lstStyle/>
          <a:p>
            <a:pPr>
              <a:defRPr sz="1600" b="1">
                <a:solidFill>
                  <a:srgbClr val="162642"/>
                </a:solidFill>
              </a:defRPr>
            </a:pPr>
            <a:r>
              <a:t>124</a:t>
            </a:r>
          </a:p>
        </p:txBody>
      </p:sp>
      <p:sp>
        <p:nvSpPr>
          <p:cNvPr id="9" name="TextBox 8"/>
          <p:cNvSpPr txBox="1"/>
          <p:nvPr/>
        </p:nvSpPr>
        <p:spPr>
          <a:xfrm>
            <a:off x="795528" y="1691640"/>
            <a:ext cx="2103120" cy="502920"/>
          </a:xfrm>
          <a:prstGeom prst="rect">
            <a:avLst/>
          </a:prstGeom>
          <a:noFill/>
        </p:spPr>
        <p:txBody>
          <a:bodyPr wrap="none">
            <a:spAutoFit/>
          </a:bodyPr>
          <a:lstStyle/>
          <a:p>
            <a:pPr>
              <a:defRPr sz="1250">
                <a:solidFill>
                  <a:srgbClr val="1E2733"/>
                </a:solidFill>
              </a:defRPr>
            </a:pPr>
            <a:r>
              <a:t>Interpreter requests</a:t>
            </a:r>
          </a:p>
        </p:txBody>
      </p:sp>
      <p:sp>
        <p:nvSpPr>
          <p:cNvPr id="10" name="Rounded Rectangle 9"/>
          <p:cNvSpPr/>
          <p:nvPr/>
        </p:nvSpPr>
        <p:spPr>
          <a:xfrm>
            <a:off x="3383279" y="1097280"/>
            <a:ext cx="2468880" cy="123444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79" y="1097280"/>
            <a:ext cx="64008" cy="123444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84448" y="1234439"/>
            <a:ext cx="2103120" cy="365760"/>
          </a:xfrm>
          <a:prstGeom prst="rect">
            <a:avLst/>
          </a:prstGeom>
          <a:noFill/>
        </p:spPr>
        <p:txBody>
          <a:bodyPr wrap="none">
            <a:spAutoFit/>
          </a:bodyPr>
          <a:lstStyle/>
          <a:p>
            <a:pPr>
              <a:defRPr sz="1600" b="1">
                <a:solidFill>
                  <a:srgbClr val="162642"/>
                </a:solidFill>
              </a:defRPr>
            </a:pPr>
            <a:r>
              <a:t>95%</a:t>
            </a:r>
          </a:p>
        </p:txBody>
      </p:sp>
      <p:sp>
        <p:nvSpPr>
          <p:cNvPr id="13" name="TextBox 12"/>
          <p:cNvSpPr txBox="1"/>
          <p:nvPr/>
        </p:nvSpPr>
        <p:spPr>
          <a:xfrm>
            <a:off x="3584448" y="1691640"/>
            <a:ext cx="2103120" cy="502920"/>
          </a:xfrm>
          <a:prstGeom prst="rect">
            <a:avLst/>
          </a:prstGeom>
          <a:noFill/>
        </p:spPr>
        <p:txBody>
          <a:bodyPr wrap="none">
            <a:spAutoFit/>
          </a:bodyPr>
          <a:lstStyle/>
          <a:p>
            <a:pPr>
              <a:defRPr sz="1250">
                <a:solidFill>
                  <a:srgbClr val="1E2733"/>
                </a:solidFill>
              </a:defRPr>
            </a:pPr>
            <a:r>
              <a:t>Fulfilment rate</a:t>
            </a:r>
          </a:p>
        </p:txBody>
      </p:sp>
      <p:sp>
        <p:nvSpPr>
          <p:cNvPr id="14" name="Rounded Rectangle 13"/>
          <p:cNvSpPr/>
          <p:nvPr/>
        </p:nvSpPr>
        <p:spPr>
          <a:xfrm>
            <a:off x="6172200" y="1097280"/>
            <a:ext cx="2468880" cy="123444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1097280"/>
            <a:ext cx="64008" cy="123444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73368" y="1234439"/>
            <a:ext cx="2103120" cy="365760"/>
          </a:xfrm>
          <a:prstGeom prst="rect">
            <a:avLst/>
          </a:prstGeom>
          <a:noFill/>
        </p:spPr>
        <p:txBody>
          <a:bodyPr wrap="none">
            <a:spAutoFit/>
          </a:bodyPr>
          <a:lstStyle/>
          <a:p>
            <a:pPr>
              <a:defRPr sz="1600" b="1">
                <a:solidFill>
                  <a:srgbClr val="162642"/>
                </a:solidFill>
              </a:defRPr>
            </a:pPr>
            <a:r>
              <a:t>4.2 h</a:t>
            </a:r>
          </a:p>
        </p:txBody>
      </p:sp>
      <p:sp>
        <p:nvSpPr>
          <p:cNvPr id="17" name="TextBox 16"/>
          <p:cNvSpPr txBox="1"/>
          <p:nvPr/>
        </p:nvSpPr>
        <p:spPr>
          <a:xfrm>
            <a:off x="6373368" y="1691640"/>
            <a:ext cx="2103120" cy="502920"/>
          </a:xfrm>
          <a:prstGeom prst="rect">
            <a:avLst/>
          </a:prstGeom>
          <a:noFill/>
        </p:spPr>
        <p:txBody>
          <a:bodyPr wrap="none">
            <a:spAutoFit/>
          </a:bodyPr>
          <a:lstStyle/>
          <a:p>
            <a:pPr>
              <a:defRPr sz="1250">
                <a:solidFill>
                  <a:srgbClr val="1E2733"/>
                </a:solidFill>
              </a:defRPr>
            </a:pPr>
            <a:r>
              <a:t>Median fulfilment</a:t>
            </a:r>
          </a:p>
        </p:txBody>
      </p:sp>
      <p:sp>
        <p:nvSpPr>
          <p:cNvPr id="18" name="Rounded Rectangle 17"/>
          <p:cNvSpPr/>
          <p:nvPr/>
        </p:nvSpPr>
        <p:spPr>
          <a:xfrm>
            <a:off x="8961119" y="1097280"/>
            <a:ext cx="2468880" cy="123444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61119" y="1097280"/>
            <a:ext cx="64008" cy="1234440"/>
          </a:xfrm>
          <a:prstGeom prst="rect">
            <a:avLst/>
          </a:prstGeom>
          <a:solidFill>
            <a:srgbClr val="C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62288" y="1234439"/>
            <a:ext cx="2103120" cy="365760"/>
          </a:xfrm>
          <a:prstGeom prst="rect">
            <a:avLst/>
          </a:prstGeom>
          <a:noFill/>
        </p:spPr>
        <p:txBody>
          <a:bodyPr wrap="none">
            <a:spAutoFit/>
          </a:bodyPr>
          <a:lstStyle/>
          <a:p>
            <a:pPr>
              <a:defRPr sz="1600" b="1">
                <a:solidFill>
                  <a:srgbClr val="162642"/>
                </a:solidFill>
              </a:defRPr>
            </a:pPr>
            <a:r>
              <a:t>6</a:t>
            </a:r>
          </a:p>
        </p:txBody>
      </p:sp>
      <p:sp>
        <p:nvSpPr>
          <p:cNvPr id="21" name="TextBox 20"/>
          <p:cNvSpPr txBox="1"/>
          <p:nvPr/>
        </p:nvSpPr>
        <p:spPr>
          <a:xfrm>
            <a:off x="9162288" y="1691640"/>
            <a:ext cx="2103120" cy="502920"/>
          </a:xfrm>
          <a:prstGeom prst="rect">
            <a:avLst/>
          </a:prstGeom>
          <a:noFill/>
        </p:spPr>
        <p:txBody>
          <a:bodyPr wrap="none">
            <a:spAutoFit/>
          </a:bodyPr>
          <a:lstStyle/>
          <a:p>
            <a:pPr>
              <a:defRPr sz="1250">
                <a:solidFill>
                  <a:srgbClr val="1E2733"/>
                </a:solidFill>
              </a:defRPr>
            </a:pPr>
            <a:r>
              <a:t>Unmet requests</a:t>
            </a:r>
          </a:p>
        </p:txBody>
      </p:sp>
      <p:sp>
        <p:nvSpPr>
          <p:cNvPr id="22" name="TextBox 21"/>
          <p:cNvSpPr txBox="1"/>
          <p:nvPr/>
        </p:nvSpPr>
        <p:spPr>
          <a:xfrm>
            <a:off x="777240" y="2743200"/>
            <a:ext cx="6492240" cy="2834640"/>
          </a:xfrm>
          <a:prstGeom prst="rect">
            <a:avLst/>
          </a:prstGeom>
          <a:noFill/>
        </p:spPr>
        <p:txBody>
          <a:bodyPr wrap="square">
            <a:spAutoFit/>
          </a:bodyPr>
          <a:lstStyle/>
          <a:p>
            <a:pPr>
              <a:spcAft>
                <a:spcPts val="800"/>
              </a:spcAft>
              <a:defRPr sz="1600">
                <a:solidFill>
                  <a:srgbClr val="1E2733"/>
                </a:solidFill>
              </a:defRPr>
            </a:pPr>
            <a:r>
              <a:t>Interpreter requests and fulfilment.</a:t>
            </a:r>
          </a:p>
          <a:p>
            <a:pPr>
              <a:spcAft>
                <a:spcPts val="800"/>
              </a:spcAft>
              <a:defRPr sz="1600">
                <a:solidFill>
                  <a:srgbClr val="1E2733"/>
                </a:solidFill>
              </a:defRPr>
            </a:pPr>
            <a:r>
              <a:t>Time taken to fulfil requests.</a:t>
            </a:r>
          </a:p>
          <a:p>
            <a:pPr>
              <a:spcAft>
                <a:spcPts val="800"/>
              </a:spcAft>
              <a:defRPr sz="1600">
                <a:solidFill>
                  <a:srgbClr val="1E2733"/>
                </a:solidFill>
              </a:defRPr>
            </a:pPr>
            <a:r>
              <a:t>Pending and unmet accessibility needs.</a:t>
            </a:r>
          </a:p>
          <a:p>
            <a:pPr>
              <a:spcAft>
                <a:spcPts val="800"/>
              </a:spcAft>
              <a:defRPr sz="1600">
                <a:solidFill>
                  <a:srgbClr val="1E2733"/>
                </a:solidFill>
              </a:defRPr>
            </a:pPr>
            <a:r>
              <a:t>Accessibility issue backlog and ageing.</a:t>
            </a:r>
          </a:p>
          <a:p>
            <a:pPr>
              <a:spcAft>
                <a:spcPts val="800"/>
              </a:spcAft>
              <a:defRPr sz="1600">
                <a:solidFill>
                  <a:srgbClr val="1E2733"/>
                </a:solidFill>
              </a:defRPr>
            </a:pPr>
            <a:r>
              <a:t>Employee satisfaction and feedback.</a:t>
            </a:r>
          </a:p>
          <a:p>
            <a:pPr>
              <a:spcAft>
                <a:spcPts val="800"/>
              </a:spcAft>
              <a:defRPr sz="1600">
                <a:solidFill>
                  <a:srgbClr val="1E2733"/>
                </a:solidFill>
              </a:defRPr>
            </a:pPr>
            <a:r>
              <a:t>Most common accessibility barriers.</a:t>
            </a:r>
          </a:p>
        </p:txBody>
      </p:sp>
      <p:sp>
        <p:nvSpPr>
          <p:cNvPr id="23" name="Rounded Rectangle 22"/>
          <p:cNvSpPr/>
          <p:nvPr/>
        </p:nvSpPr>
        <p:spPr>
          <a:xfrm>
            <a:off x="7726679" y="2834640"/>
            <a:ext cx="3474720" cy="192024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26679" y="2834640"/>
            <a:ext cx="64008" cy="1920240"/>
          </a:xfrm>
          <a:prstGeom prst="rect">
            <a:avLst/>
          </a:prstGeom>
          <a:solidFill>
            <a:srgbClr val="C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27848" y="2971800"/>
            <a:ext cx="3108960" cy="365760"/>
          </a:xfrm>
          <a:prstGeom prst="rect">
            <a:avLst/>
          </a:prstGeom>
          <a:noFill/>
        </p:spPr>
        <p:txBody>
          <a:bodyPr wrap="none">
            <a:spAutoFit/>
          </a:bodyPr>
          <a:lstStyle/>
          <a:p>
            <a:pPr>
              <a:defRPr sz="1600" b="1">
                <a:solidFill>
                  <a:srgbClr val="162642"/>
                </a:solidFill>
              </a:defRPr>
            </a:pPr>
            <a:r>
              <a:t>MOST IMPORTANT</a:t>
            </a:r>
          </a:p>
        </p:txBody>
      </p:sp>
      <p:sp>
        <p:nvSpPr>
          <p:cNvPr id="26" name="TextBox 25"/>
          <p:cNvSpPr txBox="1"/>
          <p:nvPr/>
        </p:nvSpPr>
        <p:spPr>
          <a:xfrm>
            <a:off x="7927848" y="3429000"/>
            <a:ext cx="3108960" cy="1188720"/>
          </a:xfrm>
          <a:prstGeom prst="rect">
            <a:avLst/>
          </a:prstGeom>
          <a:noFill/>
        </p:spPr>
        <p:txBody>
          <a:bodyPr wrap="none">
            <a:spAutoFit/>
          </a:bodyPr>
          <a:lstStyle/>
          <a:p>
            <a:pPr>
              <a:defRPr sz="1250">
                <a:solidFill>
                  <a:srgbClr val="1E2733"/>
                </a:solidFill>
              </a:defRPr>
            </a:pPr>
            <a:r>
              <a:t>Do not only count completed requests.</a:t>
            </a:r>
            <a:br/>
            <a:br/>
            <a:r>
              <a:t>Track what employees still could not get.</a:t>
            </a:r>
          </a:p>
        </p:txBody>
      </p:sp>
      <p:sp>
        <p:nvSpPr>
          <p:cNvPr id="27" name="TextBox 26"/>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14. Low-Cost Approach</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USE WHAT SG ALREADY HAS</a:t>
            </a:r>
          </a:p>
        </p:txBody>
      </p:sp>
      <p:sp>
        <p:nvSpPr>
          <p:cNvPr id="6" name="Rounded Rectangle 5"/>
          <p:cNvSpPr/>
          <p:nvPr/>
        </p:nvSpPr>
        <p:spPr>
          <a:xfrm>
            <a:off x="594360" y="1143000"/>
            <a:ext cx="2560320" cy="14173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143000"/>
            <a:ext cx="64008" cy="141732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280160"/>
            <a:ext cx="2194560" cy="365760"/>
          </a:xfrm>
          <a:prstGeom prst="rect">
            <a:avLst/>
          </a:prstGeom>
          <a:noFill/>
        </p:spPr>
        <p:txBody>
          <a:bodyPr wrap="none">
            <a:spAutoFit/>
          </a:bodyPr>
          <a:lstStyle/>
          <a:p>
            <a:pPr>
              <a:defRPr sz="1600" b="1">
                <a:solidFill>
                  <a:srgbClr val="162642"/>
                </a:solidFill>
              </a:defRPr>
            </a:pPr>
            <a:r>
              <a:t>ACCESSIBILITY HUB</a:t>
            </a:r>
          </a:p>
        </p:txBody>
      </p:sp>
      <p:sp>
        <p:nvSpPr>
          <p:cNvPr id="9" name="TextBox 8"/>
          <p:cNvSpPr txBox="1"/>
          <p:nvPr/>
        </p:nvSpPr>
        <p:spPr>
          <a:xfrm>
            <a:off x="795528" y="1737360"/>
            <a:ext cx="1670137" cy="477054"/>
          </a:xfrm>
          <a:prstGeom prst="rect">
            <a:avLst/>
          </a:prstGeom>
          <a:noFill/>
        </p:spPr>
        <p:txBody>
          <a:bodyPr wrap="none">
            <a:spAutoFit/>
          </a:bodyPr>
          <a:lstStyle/>
          <a:p>
            <a:pPr>
              <a:defRPr sz="1250">
                <a:solidFill>
                  <a:srgbClr val="1E2733"/>
                </a:solidFill>
              </a:defRPr>
            </a:pPr>
            <a:r>
              <a:rPr dirty="0"/>
              <a:t>Web portal / </a:t>
            </a:r>
            <a:endParaRPr lang="en-IN" dirty="0"/>
          </a:p>
          <a:p>
            <a:pPr>
              <a:defRPr sz="1250">
                <a:solidFill>
                  <a:srgbClr val="1E2733"/>
                </a:solidFill>
              </a:defRPr>
            </a:pPr>
            <a:r>
              <a:rPr dirty="0"/>
              <a:t>existing authentication</a:t>
            </a:r>
          </a:p>
        </p:txBody>
      </p:sp>
      <p:sp>
        <p:nvSpPr>
          <p:cNvPr id="10" name="Rounded Rectangle 9"/>
          <p:cNvSpPr/>
          <p:nvPr/>
        </p:nvSpPr>
        <p:spPr>
          <a:xfrm>
            <a:off x="3429000" y="1143000"/>
            <a:ext cx="2560320" cy="14173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143000"/>
            <a:ext cx="64008" cy="141732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30168" y="1280160"/>
            <a:ext cx="2194560" cy="365760"/>
          </a:xfrm>
          <a:prstGeom prst="rect">
            <a:avLst/>
          </a:prstGeom>
          <a:noFill/>
        </p:spPr>
        <p:txBody>
          <a:bodyPr wrap="none">
            <a:spAutoFit/>
          </a:bodyPr>
          <a:lstStyle/>
          <a:p>
            <a:pPr>
              <a:defRPr sz="1600" b="1">
                <a:solidFill>
                  <a:srgbClr val="162642"/>
                </a:solidFill>
              </a:defRPr>
            </a:pPr>
            <a:r>
              <a:t>WORKFLOW</a:t>
            </a:r>
          </a:p>
        </p:txBody>
      </p:sp>
      <p:sp>
        <p:nvSpPr>
          <p:cNvPr id="13" name="TextBox 12"/>
          <p:cNvSpPr txBox="1"/>
          <p:nvPr/>
        </p:nvSpPr>
        <p:spPr>
          <a:xfrm>
            <a:off x="3630168" y="1737360"/>
            <a:ext cx="2194560" cy="685800"/>
          </a:xfrm>
          <a:prstGeom prst="rect">
            <a:avLst/>
          </a:prstGeom>
          <a:noFill/>
        </p:spPr>
        <p:txBody>
          <a:bodyPr wrap="none">
            <a:spAutoFit/>
          </a:bodyPr>
          <a:lstStyle/>
          <a:p>
            <a:pPr>
              <a:defRPr sz="1250">
                <a:solidFill>
                  <a:srgbClr val="1E2733"/>
                </a:solidFill>
              </a:defRPr>
            </a:pPr>
            <a:r>
              <a:t>Existing approval / ticket process</a:t>
            </a:r>
          </a:p>
        </p:txBody>
      </p:sp>
      <p:sp>
        <p:nvSpPr>
          <p:cNvPr id="14" name="Rounded Rectangle 13"/>
          <p:cNvSpPr/>
          <p:nvPr/>
        </p:nvSpPr>
        <p:spPr>
          <a:xfrm>
            <a:off x="6263640" y="1143000"/>
            <a:ext cx="2560320" cy="14173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143000"/>
            <a:ext cx="64008" cy="141732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64807" y="1280160"/>
            <a:ext cx="2194560" cy="365760"/>
          </a:xfrm>
          <a:prstGeom prst="rect">
            <a:avLst/>
          </a:prstGeom>
          <a:noFill/>
        </p:spPr>
        <p:txBody>
          <a:bodyPr wrap="none">
            <a:spAutoFit/>
          </a:bodyPr>
          <a:lstStyle/>
          <a:p>
            <a:pPr>
              <a:defRPr sz="1600" b="1">
                <a:solidFill>
                  <a:srgbClr val="162642"/>
                </a:solidFill>
              </a:defRPr>
            </a:pPr>
            <a:r>
              <a:t>M365</a:t>
            </a:r>
          </a:p>
        </p:txBody>
      </p:sp>
      <p:sp>
        <p:nvSpPr>
          <p:cNvPr id="17" name="TextBox 16"/>
          <p:cNvSpPr txBox="1"/>
          <p:nvPr/>
        </p:nvSpPr>
        <p:spPr>
          <a:xfrm>
            <a:off x="6464807" y="1737360"/>
            <a:ext cx="2194560" cy="685800"/>
          </a:xfrm>
          <a:prstGeom prst="rect">
            <a:avLst/>
          </a:prstGeom>
          <a:noFill/>
        </p:spPr>
        <p:txBody>
          <a:bodyPr wrap="none">
            <a:spAutoFit/>
          </a:bodyPr>
          <a:lstStyle/>
          <a:p>
            <a:pPr>
              <a:defRPr sz="1250">
                <a:solidFill>
                  <a:srgbClr val="1E2733"/>
                </a:solidFill>
              </a:defRPr>
            </a:pPr>
            <a:r>
              <a:t>Teams • Outlook • SharePoint</a:t>
            </a:r>
          </a:p>
        </p:txBody>
      </p:sp>
      <p:sp>
        <p:nvSpPr>
          <p:cNvPr id="18" name="Rounded Rectangle 17"/>
          <p:cNvSpPr/>
          <p:nvPr/>
        </p:nvSpPr>
        <p:spPr>
          <a:xfrm>
            <a:off x="9098280" y="1143000"/>
            <a:ext cx="2560320" cy="141732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98280" y="1143000"/>
            <a:ext cx="64008" cy="1417320"/>
          </a:xfrm>
          <a:prstGeom prst="rect">
            <a:avLst/>
          </a:prstGeom>
          <a:solidFill>
            <a:srgbClr val="DD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99448" y="1280160"/>
            <a:ext cx="2194560" cy="365760"/>
          </a:xfrm>
          <a:prstGeom prst="rect">
            <a:avLst/>
          </a:prstGeom>
          <a:noFill/>
        </p:spPr>
        <p:txBody>
          <a:bodyPr wrap="none">
            <a:spAutoFit/>
          </a:bodyPr>
          <a:lstStyle/>
          <a:p>
            <a:pPr>
              <a:defRPr sz="1600" b="1">
                <a:solidFill>
                  <a:srgbClr val="162642"/>
                </a:solidFill>
              </a:defRPr>
            </a:pPr>
            <a:r>
              <a:t>ANALYTICS</a:t>
            </a:r>
          </a:p>
        </p:txBody>
      </p:sp>
      <p:sp>
        <p:nvSpPr>
          <p:cNvPr id="21" name="TextBox 20"/>
          <p:cNvSpPr txBox="1"/>
          <p:nvPr/>
        </p:nvSpPr>
        <p:spPr>
          <a:xfrm>
            <a:off x="9299448" y="1737360"/>
            <a:ext cx="2194560" cy="685800"/>
          </a:xfrm>
          <a:prstGeom prst="rect">
            <a:avLst/>
          </a:prstGeom>
          <a:noFill/>
        </p:spPr>
        <p:txBody>
          <a:bodyPr wrap="none">
            <a:spAutoFit/>
          </a:bodyPr>
          <a:lstStyle/>
          <a:p>
            <a:pPr>
              <a:defRPr sz="1250">
                <a:solidFill>
                  <a:srgbClr val="1E2733"/>
                </a:solidFill>
              </a:defRPr>
            </a:pPr>
            <a:r>
              <a:t>Grafana / existing BI</a:t>
            </a:r>
          </a:p>
        </p:txBody>
      </p:sp>
      <p:sp>
        <p:nvSpPr>
          <p:cNvPr id="22" name="TextBox 21"/>
          <p:cNvSpPr txBox="1"/>
          <p:nvPr/>
        </p:nvSpPr>
        <p:spPr>
          <a:xfrm>
            <a:off x="822960" y="3246120"/>
            <a:ext cx="10241280" cy="2377440"/>
          </a:xfrm>
          <a:prstGeom prst="rect">
            <a:avLst/>
          </a:prstGeom>
          <a:noFill/>
        </p:spPr>
        <p:txBody>
          <a:bodyPr wrap="square">
            <a:spAutoFit/>
          </a:bodyPr>
          <a:lstStyle/>
          <a:p>
            <a:pPr>
              <a:spcAft>
                <a:spcPts val="800"/>
              </a:spcAft>
              <a:defRPr sz="1800">
                <a:solidFill>
                  <a:srgbClr val="1E2733"/>
                </a:solidFill>
              </a:defRPr>
            </a:pPr>
            <a:r>
              <a:t>Reuse existing SG systems wherever possible.</a:t>
            </a:r>
          </a:p>
          <a:p>
            <a:pPr>
              <a:spcAft>
                <a:spcPts val="800"/>
              </a:spcAft>
              <a:defRPr sz="1800">
                <a:solidFill>
                  <a:srgbClr val="1E2733"/>
                </a:solidFill>
              </a:defRPr>
            </a:pPr>
            <a:r>
              <a:t>Use Teams for communication and its existing accessibility features.</a:t>
            </a:r>
          </a:p>
          <a:p>
            <a:pPr>
              <a:spcAft>
                <a:spcPts val="800"/>
              </a:spcAft>
              <a:defRPr sz="1800">
                <a:solidFill>
                  <a:srgbClr val="1E2733"/>
                </a:solidFill>
              </a:defRPr>
            </a:pPr>
            <a:r>
              <a:t>Use Copilot where it is already approved instead of building another AI tool.</a:t>
            </a:r>
          </a:p>
          <a:p>
            <a:pPr>
              <a:spcAft>
                <a:spcPts val="800"/>
              </a:spcAft>
              <a:defRPr sz="1800">
                <a:solidFill>
                  <a:srgbClr val="1E2733"/>
                </a:solidFill>
              </a:defRPr>
            </a:pPr>
            <a:r>
              <a:t>Build only the missing workflow and user experience.</a:t>
            </a:r>
          </a:p>
          <a:p>
            <a:pPr>
              <a:spcAft>
                <a:spcPts val="800"/>
              </a:spcAft>
              <a:defRPr sz="1800">
                <a:solidFill>
                  <a:srgbClr val="1E2733"/>
                </a:solidFill>
              </a:defRPr>
            </a:pPr>
            <a:r>
              <a:t>Start small, measure usage, then expand.</a:t>
            </a:r>
          </a:p>
        </p:txBody>
      </p:sp>
      <p:sp>
        <p:nvSpPr>
          <p:cNvPr id="23" name="TextBox 22"/>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15. Roadmap</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START SMALL</a:t>
            </a:r>
          </a:p>
        </p:txBody>
      </p:sp>
      <p:sp>
        <p:nvSpPr>
          <p:cNvPr id="6" name="Rounded Rectangle 5"/>
          <p:cNvSpPr/>
          <p:nvPr/>
        </p:nvSpPr>
        <p:spPr>
          <a:xfrm>
            <a:off x="594360" y="1097280"/>
            <a:ext cx="3566160" cy="43434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097280"/>
            <a:ext cx="64008" cy="434340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234439"/>
            <a:ext cx="3200400" cy="365760"/>
          </a:xfrm>
          <a:prstGeom prst="rect">
            <a:avLst/>
          </a:prstGeom>
          <a:noFill/>
        </p:spPr>
        <p:txBody>
          <a:bodyPr wrap="none">
            <a:spAutoFit/>
          </a:bodyPr>
          <a:lstStyle/>
          <a:p>
            <a:pPr>
              <a:defRPr sz="1600" b="1">
                <a:solidFill>
                  <a:srgbClr val="162642"/>
                </a:solidFill>
              </a:defRPr>
            </a:pPr>
            <a:r>
              <a:t>PHASE 1 • MVP</a:t>
            </a:r>
          </a:p>
        </p:txBody>
      </p:sp>
      <p:sp>
        <p:nvSpPr>
          <p:cNvPr id="9" name="TextBox 8"/>
          <p:cNvSpPr txBox="1"/>
          <p:nvPr/>
        </p:nvSpPr>
        <p:spPr>
          <a:xfrm>
            <a:off x="795528" y="1691640"/>
            <a:ext cx="2734723" cy="1438855"/>
          </a:xfrm>
          <a:prstGeom prst="rect">
            <a:avLst/>
          </a:prstGeom>
          <a:noFill/>
        </p:spPr>
        <p:txBody>
          <a:bodyPr wrap="none">
            <a:spAutoFit/>
          </a:bodyPr>
          <a:lstStyle/>
          <a:p>
            <a:pPr>
              <a:defRPr sz="1250">
                <a:solidFill>
                  <a:srgbClr val="1E2733"/>
                </a:solidFill>
              </a:defRPr>
            </a:pPr>
            <a:r>
              <a:rPr dirty="0"/>
              <a:t>1. Home Dashboard</a:t>
            </a:r>
            <a:br>
              <a:rPr dirty="0"/>
            </a:br>
            <a:r>
              <a:rPr dirty="0"/>
              <a:t>2. Interpreter Request</a:t>
            </a:r>
            <a:br>
              <a:rPr dirty="0"/>
            </a:br>
            <a:r>
              <a:rPr lang="en-IN" dirty="0"/>
              <a:t>3</a:t>
            </a:r>
            <a:r>
              <a:rPr dirty="0"/>
              <a:t>. Teams + Captioning Guide</a:t>
            </a:r>
            <a:br>
              <a:rPr dirty="0"/>
            </a:br>
            <a:r>
              <a:rPr lang="en-IN" dirty="0"/>
              <a:t>4</a:t>
            </a:r>
            <a:r>
              <a:rPr dirty="0"/>
              <a:t>. Accessibility Passport + Teams Status</a:t>
            </a:r>
            <a:br>
              <a:rPr dirty="0"/>
            </a:br>
            <a:r>
              <a:rPr lang="en-IN" dirty="0"/>
              <a:t>5</a:t>
            </a:r>
            <a:r>
              <a:rPr dirty="0"/>
              <a:t>. Accommodation Request</a:t>
            </a:r>
            <a:br>
              <a:rPr dirty="0"/>
            </a:br>
            <a:r>
              <a:rPr lang="en-IN" dirty="0"/>
              <a:t>6</a:t>
            </a:r>
            <a:r>
              <a:rPr dirty="0"/>
              <a:t>. Accessibility Issue Reporter</a:t>
            </a:r>
            <a:br>
              <a:rPr dirty="0"/>
            </a:br>
            <a:r>
              <a:rPr lang="en-IN" dirty="0"/>
              <a:t>7</a:t>
            </a:r>
            <a:r>
              <a:rPr dirty="0"/>
              <a:t>. Basic Analytics</a:t>
            </a:r>
          </a:p>
        </p:txBody>
      </p:sp>
      <p:sp>
        <p:nvSpPr>
          <p:cNvPr id="10" name="Rounded Rectangle 9"/>
          <p:cNvSpPr/>
          <p:nvPr/>
        </p:nvSpPr>
        <p:spPr>
          <a:xfrm>
            <a:off x="4315968" y="1097280"/>
            <a:ext cx="3566160" cy="43434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15968" y="1097280"/>
            <a:ext cx="64008" cy="434340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17136" y="1234439"/>
            <a:ext cx="3200400" cy="365760"/>
          </a:xfrm>
          <a:prstGeom prst="rect">
            <a:avLst/>
          </a:prstGeom>
          <a:noFill/>
        </p:spPr>
        <p:txBody>
          <a:bodyPr wrap="none">
            <a:spAutoFit/>
          </a:bodyPr>
          <a:lstStyle/>
          <a:p>
            <a:pPr>
              <a:defRPr sz="1600" b="1">
                <a:solidFill>
                  <a:srgbClr val="162642"/>
                </a:solidFill>
              </a:defRPr>
            </a:pPr>
            <a:r>
              <a:t>PHASE 2 • EXPAND</a:t>
            </a:r>
          </a:p>
        </p:txBody>
      </p:sp>
      <p:sp>
        <p:nvSpPr>
          <p:cNvPr id="13" name="TextBox 12"/>
          <p:cNvSpPr txBox="1"/>
          <p:nvPr/>
        </p:nvSpPr>
        <p:spPr>
          <a:xfrm>
            <a:off x="4517136" y="1691640"/>
            <a:ext cx="3200400" cy="3611880"/>
          </a:xfrm>
          <a:prstGeom prst="rect">
            <a:avLst/>
          </a:prstGeom>
          <a:noFill/>
        </p:spPr>
        <p:txBody>
          <a:bodyPr wrap="none">
            <a:spAutoFit/>
          </a:bodyPr>
          <a:lstStyle/>
          <a:p>
            <a:pPr>
              <a:defRPr sz="1250">
                <a:solidFill>
                  <a:srgbClr val="1E2733"/>
                </a:solidFill>
              </a:defRPr>
            </a:pPr>
            <a:r>
              <a:t>9. Emergency Accessibility</a:t>
            </a:r>
            <a:br/>
            <a:r>
              <a:t>10. Workplace Accessibility Map</a:t>
            </a:r>
            <a:br/>
            <a:r>
              <a:t>11. ISL Learning</a:t>
            </a:r>
            <a:br/>
            <a:r>
              <a:t>12. Buddy System</a:t>
            </a:r>
            <a:br/>
            <a:r>
              <a:t>13. Manager Dashboard</a:t>
            </a:r>
            <a:br/>
            <a:r>
              <a:t>14. Feedback System</a:t>
            </a:r>
            <a:br/>
            <a:r>
              <a:t>15. More Teams integration</a:t>
            </a:r>
          </a:p>
        </p:txBody>
      </p:sp>
      <p:sp>
        <p:nvSpPr>
          <p:cNvPr id="14" name="Rounded Rectangle 13"/>
          <p:cNvSpPr/>
          <p:nvPr/>
        </p:nvSpPr>
        <p:spPr>
          <a:xfrm>
            <a:off x="8037575" y="1097280"/>
            <a:ext cx="3566160" cy="434340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37575" y="1097280"/>
            <a:ext cx="64008" cy="434340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38744" y="1234439"/>
            <a:ext cx="3200400" cy="365760"/>
          </a:xfrm>
          <a:prstGeom prst="rect">
            <a:avLst/>
          </a:prstGeom>
          <a:noFill/>
        </p:spPr>
        <p:txBody>
          <a:bodyPr wrap="none">
            <a:spAutoFit/>
          </a:bodyPr>
          <a:lstStyle/>
          <a:p>
            <a:pPr>
              <a:defRPr sz="1600" b="1">
                <a:solidFill>
                  <a:srgbClr val="162642"/>
                </a:solidFill>
              </a:defRPr>
            </a:pPr>
            <a:r>
              <a:t>PHASE 3 • SCALE</a:t>
            </a:r>
          </a:p>
        </p:txBody>
      </p:sp>
      <p:sp>
        <p:nvSpPr>
          <p:cNvPr id="17" name="TextBox 16"/>
          <p:cNvSpPr txBox="1"/>
          <p:nvPr/>
        </p:nvSpPr>
        <p:spPr>
          <a:xfrm>
            <a:off x="8238744" y="1691640"/>
            <a:ext cx="3200400" cy="3611880"/>
          </a:xfrm>
          <a:prstGeom prst="rect">
            <a:avLst/>
          </a:prstGeom>
          <a:noFill/>
        </p:spPr>
        <p:txBody>
          <a:bodyPr wrap="none">
            <a:spAutoFit/>
          </a:bodyPr>
          <a:lstStyle/>
          <a:p>
            <a:pPr>
              <a:defRPr sz="1250">
                <a:solidFill>
                  <a:srgbClr val="1E2733"/>
                </a:solidFill>
              </a:defRPr>
            </a:pPr>
            <a:r>
              <a:t>16. Advanced Analytics</a:t>
            </a:r>
            <a:br/>
            <a:r>
              <a:t>17. Accessibility Heatmap</a:t>
            </a:r>
            <a:br/>
            <a:r>
              <a:t>18. Automated reminders</a:t>
            </a:r>
            <a:br/>
            <a:r>
              <a:t>19. Reporting for management</a:t>
            </a:r>
            <a:br/>
            <a:r>
              <a:t>20. Deeper integrations</a:t>
            </a:r>
          </a:p>
        </p:txBody>
      </p:sp>
      <p:sp>
        <p:nvSpPr>
          <p:cNvPr id="18" name="TextBox 17"/>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13232"/>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8686800" cy="438912"/>
          </a:xfrm>
          <a:prstGeom prst="rect">
            <a:avLst/>
          </a:prstGeom>
          <a:noFill/>
        </p:spPr>
        <p:txBody>
          <a:bodyPr wrap="none">
            <a:spAutoFit/>
          </a:bodyPr>
          <a:lstStyle/>
          <a:p>
            <a:pPr>
              <a:defRPr sz="2500" b="1">
                <a:solidFill>
                  <a:srgbClr val="FFFFFF"/>
                </a:solidFill>
              </a:defRPr>
            </a:pPr>
            <a:r>
              <a:t>16. Design Rules</a:t>
            </a:r>
          </a:p>
        </p:txBody>
      </p:sp>
      <p:sp>
        <p:nvSpPr>
          <p:cNvPr id="5" name="TextBox 4"/>
          <p:cNvSpPr txBox="1"/>
          <p:nvPr/>
        </p:nvSpPr>
        <p:spPr>
          <a:xfrm>
            <a:off x="9144000" y="164592"/>
            <a:ext cx="2468880" cy="274320"/>
          </a:xfrm>
          <a:prstGeom prst="rect">
            <a:avLst/>
          </a:prstGeom>
          <a:noFill/>
        </p:spPr>
        <p:txBody>
          <a:bodyPr wrap="none">
            <a:spAutoFit/>
          </a:bodyPr>
          <a:lstStyle/>
          <a:p>
            <a:pPr algn="r">
              <a:defRPr sz="1000">
                <a:solidFill>
                  <a:srgbClr val="D2DCEB"/>
                </a:solidFill>
              </a:defRPr>
            </a:pPr>
            <a:r>
              <a:t>KEEP IT ACCESSIBLE</a:t>
            </a:r>
          </a:p>
        </p:txBody>
      </p:sp>
      <p:sp>
        <p:nvSpPr>
          <p:cNvPr id="6" name="TextBox 5"/>
          <p:cNvSpPr txBox="1"/>
          <p:nvPr/>
        </p:nvSpPr>
        <p:spPr>
          <a:xfrm>
            <a:off x="822960" y="1143000"/>
            <a:ext cx="10241280" cy="5029200"/>
          </a:xfrm>
          <a:prstGeom prst="rect">
            <a:avLst/>
          </a:prstGeom>
          <a:noFill/>
        </p:spPr>
        <p:txBody>
          <a:bodyPr wrap="square">
            <a:spAutoFit/>
          </a:bodyPr>
          <a:lstStyle/>
          <a:p>
            <a:pPr>
              <a:spcAft>
                <a:spcPts val="800"/>
              </a:spcAft>
              <a:defRPr sz="1800">
                <a:solidFill>
                  <a:srgbClr val="1E2733"/>
                </a:solidFill>
              </a:defRPr>
            </a:pPr>
            <a:r>
              <a:t>Simple English and short sentences.</a:t>
            </a:r>
          </a:p>
          <a:p>
            <a:pPr>
              <a:spcAft>
                <a:spcPts val="800"/>
              </a:spcAft>
              <a:defRPr sz="1800">
                <a:solidFill>
                  <a:srgbClr val="1E2733"/>
                </a:solidFill>
              </a:defRPr>
            </a:pPr>
            <a:r>
              <a:t>Visual-first design, with captions and clear icons.</a:t>
            </a:r>
          </a:p>
          <a:p>
            <a:pPr>
              <a:spcAft>
                <a:spcPts val="800"/>
              </a:spcAft>
              <a:defRPr sz="1800">
                <a:solidFill>
                  <a:srgbClr val="1E2733"/>
                </a:solidFill>
              </a:defRPr>
            </a:pPr>
            <a:r>
              <a:t>Do not use colour alone to show status.</a:t>
            </a:r>
          </a:p>
          <a:p>
            <a:pPr>
              <a:spcAft>
                <a:spcPts val="800"/>
              </a:spcAft>
              <a:defRPr sz="1800">
                <a:solidFill>
                  <a:srgbClr val="1E2733"/>
                </a:solidFill>
              </a:defRPr>
            </a:pPr>
            <a:r>
              <a:t>Keyboard-friendly and accessible for other disability groups.</a:t>
            </a:r>
          </a:p>
          <a:p>
            <a:pPr>
              <a:spcAft>
                <a:spcPts val="800"/>
              </a:spcAft>
              <a:defRPr sz="1800">
                <a:solidFill>
                  <a:srgbClr val="1E2733"/>
                </a:solidFill>
              </a:defRPr>
            </a:pPr>
            <a:r>
              <a:t>Privacy by design: collect only what is needed.</a:t>
            </a:r>
          </a:p>
          <a:p>
            <a:pPr>
              <a:spcAft>
                <a:spcPts val="800"/>
              </a:spcAft>
              <a:defRPr sz="1800">
                <a:solidFill>
                  <a:srgbClr val="1E2733"/>
                </a:solidFill>
              </a:defRPr>
            </a:pPr>
            <a:r>
              <a:t>Employee controls personal preferences and sharing.</a:t>
            </a:r>
          </a:p>
          <a:p>
            <a:pPr>
              <a:spcAft>
                <a:spcPts val="800"/>
              </a:spcAft>
              <a:defRPr sz="1800">
                <a:solidFill>
                  <a:srgbClr val="1E2733"/>
                </a:solidFill>
              </a:defRPr>
            </a:pPr>
            <a:r>
              <a:t>Test the product with Deaf/HoH and other PwD employees before launch.</a:t>
            </a:r>
          </a:p>
          <a:p>
            <a:pPr>
              <a:spcAft>
                <a:spcPts val="800"/>
              </a:spcAft>
              <a:defRPr sz="1800">
                <a:solidFill>
                  <a:srgbClr val="1E2733"/>
                </a:solidFill>
              </a:defRPr>
            </a:pPr>
            <a:r>
              <a:t>Keep accessibility information and videos updated.</a:t>
            </a:r>
          </a:p>
        </p:txBody>
      </p:sp>
      <p:sp>
        <p:nvSpPr>
          <p:cNvPr id="7" name="TextBox 6"/>
          <p:cNvSpPr txBox="1"/>
          <p:nvPr/>
        </p:nvSpPr>
        <p:spPr>
          <a:xfrm>
            <a:off x="502920" y="6510528"/>
            <a:ext cx="11155680" cy="182880"/>
          </a:xfrm>
          <a:prstGeom prst="rect">
            <a:avLst/>
          </a:prstGeom>
          <a:noFill/>
        </p:spPr>
        <p:txBody>
          <a:bodyPr wrap="none">
            <a:spAutoFit/>
          </a:bodyPr>
          <a:lstStyle/>
          <a:p>
            <a:pPr>
              <a:defRPr sz="900">
                <a:solidFill>
                  <a:srgbClr val="637388"/>
                </a:solidFill>
              </a:defRPr>
            </a:pPr>
            <a:r>
              <a:t>Accessibility Hub • Société Générale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143000"/>
            <a:ext cx="10789920" cy="1828800"/>
          </a:xfrm>
          <a:prstGeom prst="rect">
            <a:avLst/>
          </a:prstGeom>
          <a:noFill/>
        </p:spPr>
        <p:txBody>
          <a:bodyPr wrap="none">
            <a:spAutoFit/>
          </a:bodyPr>
          <a:lstStyle/>
          <a:p>
            <a:pPr>
              <a:defRPr sz="3500" b="1">
                <a:solidFill>
                  <a:srgbClr val="FFFFFF"/>
                </a:solidFill>
              </a:defRPr>
            </a:pPr>
            <a:r>
              <a:t>Accessibility should not depend on asking for help.</a:t>
            </a:r>
          </a:p>
          <a:p>
            <a:pPr>
              <a:spcBef>
                <a:spcPts val="1400"/>
              </a:spcBef>
              <a:defRPr sz="2500">
                <a:solidFill>
                  <a:srgbClr val="BED7F0"/>
                </a:solidFill>
              </a:defRPr>
            </a:pPr>
            <a:r>
              <a:t>One hub. One front door. Fewer barriers.</a:t>
            </a:r>
          </a:p>
        </p:txBody>
      </p:sp>
      <p:sp>
        <p:nvSpPr>
          <p:cNvPr id="4" name="Rounded Rectangle 3"/>
          <p:cNvSpPr/>
          <p:nvPr/>
        </p:nvSpPr>
        <p:spPr>
          <a:xfrm>
            <a:off x="914400" y="3657600"/>
            <a:ext cx="3108960" cy="132588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14400" y="3657600"/>
            <a:ext cx="64008" cy="1325880"/>
          </a:xfrm>
          <a:prstGeom prst="rect">
            <a:avLst/>
          </a:prstGeom>
          <a:solidFill>
            <a:srgbClr val="2D6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 y="3794760"/>
            <a:ext cx="2743200" cy="365760"/>
          </a:xfrm>
          <a:prstGeom prst="rect">
            <a:avLst/>
          </a:prstGeom>
          <a:noFill/>
        </p:spPr>
        <p:txBody>
          <a:bodyPr wrap="none">
            <a:spAutoFit/>
          </a:bodyPr>
          <a:lstStyle/>
          <a:p>
            <a:pPr>
              <a:defRPr sz="1600" b="1">
                <a:solidFill>
                  <a:srgbClr val="162642"/>
                </a:solidFill>
              </a:defRPr>
            </a:pPr>
            <a:r>
              <a:t>EMPLOYEES</a:t>
            </a:r>
          </a:p>
        </p:txBody>
      </p:sp>
      <p:sp>
        <p:nvSpPr>
          <p:cNvPr id="7" name="TextBox 6"/>
          <p:cNvSpPr txBox="1"/>
          <p:nvPr/>
        </p:nvSpPr>
        <p:spPr>
          <a:xfrm>
            <a:off x="1115568" y="4251960"/>
            <a:ext cx="2743200" cy="594359"/>
          </a:xfrm>
          <a:prstGeom prst="rect">
            <a:avLst/>
          </a:prstGeom>
          <a:noFill/>
        </p:spPr>
        <p:txBody>
          <a:bodyPr wrap="none">
            <a:spAutoFit/>
          </a:bodyPr>
          <a:lstStyle/>
          <a:p>
            <a:pPr>
              <a:defRPr sz="1250">
                <a:solidFill>
                  <a:srgbClr val="1E2733"/>
                </a:solidFill>
              </a:defRPr>
            </a:pPr>
            <a:r>
              <a:t>Faster access to support</a:t>
            </a:r>
          </a:p>
        </p:txBody>
      </p:sp>
      <p:sp>
        <p:nvSpPr>
          <p:cNvPr id="8" name="Rounded Rectangle 7"/>
          <p:cNvSpPr/>
          <p:nvPr/>
        </p:nvSpPr>
        <p:spPr>
          <a:xfrm>
            <a:off x="4526280" y="3657600"/>
            <a:ext cx="3108960" cy="132588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26280" y="3657600"/>
            <a:ext cx="64008" cy="1325880"/>
          </a:xfrm>
          <a:prstGeom prst="rect">
            <a:avLst/>
          </a:prstGeom>
          <a:solidFill>
            <a:srgbClr val="1C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7448" y="3794760"/>
            <a:ext cx="2743200" cy="365760"/>
          </a:xfrm>
          <a:prstGeom prst="rect">
            <a:avLst/>
          </a:prstGeom>
          <a:noFill/>
        </p:spPr>
        <p:txBody>
          <a:bodyPr wrap="none">
            <a:spAutoFit/>
          </a:bodyPr>
          <a:lstStyle/>
          <a:p>
            <a:pPr>
              <a:defRPr sz="1600" b="1">
                <a:solidFill>
                  <a:srgbClr val="162642"/>
                </a:solidFill>
              </a:defRPr>
            </a:pPr>
            <a:r>
              <a:t>MANAGERS</a:t>
            </a:r>
          </a:p>
        </p:txBody>
      </p:sp>
      <p:sp>
        <p:nvSpPr>
          <p:cNvPr id="11" name="TextBox 10"/>
          <p:cNvSpPr txBox="1"/>
          <p:nvPr/>
        </p:nvSpPr>
        <p:spPr>
          <a:xfrm>
            <a:off x="4727448" y="4251960"/>
            <a:ext cx="2743200" cy="594359"/>
          </a:xfrm>
          <a:prstGeom prst="rect">
            <a:avLst/>
          </a:prstGeom>
          <a:noFill/>
        </p:spPr>
        <p:txBody>
          <a:bodyPr wrap="none">
            <a:spAutoFit/>
          </a:bodyPr>
          <a:lstStyle/>
          <a:p>
            <a:pPr>
              <a:defRPr sz="1250">
                <a:solidFill>
                  <a:srgbClr val="1E2733"/>
                </a:solidFill>
              </a:defRPr>
            </a:pPr>
            <a:r>
              <a:t>Clear actions</a:t>
            </a:r>
          </a:p>
        </p:txBody>
      </p:sp>
      <p:sp>
        <p:nvSpPr>
          <p:cNvPr id="12" name="Rounded Rectangle 11"/>
          <p:cNvSpPr/>
          <p:nvPr/>
        </p:nvSpPr>
        <p:spPr>
          <a:xfrm>
            <a:off x="8138160" y="3657600"/>
            <a:ext cx="3108960" cy="1325880"/>
          </a:xfrm>
          <a:prstGeom prst="roundRect">
            <a:avLst/>
          </a:prstGeom>
          <a:solidFill>
            <a:srgbClr val="FFFFFF"/>
          </a:solidFill>
          <a:ln>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38160" y="3657600"/>
            <a:ext cx="64008" cy="1325880"/>
          </a:xfrm>
          <a:prstGeom prst="rect">
            <a:avLst/>
          </a:prstGeom>
          <a:solidFill>
            <a:srgbClr val="2991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39328" y="3794760"/>
            <a:ext cx="2743200" cy="365760"/>
          </a:xfrm>
          <a:prstGeom prst="rect">
            <a:avLst/>
          </a:prstGeom>
          <a:noFill/>
        </p:spPr>
        <p:txBody>
          <a:bodyPr wrap="none">
            <a:spAutoFit/>
          </a:bodyPr>
          <a:lstStyle/>
          <a:p>
            <a:pPr>
              <a:defRPr sz="1600" b="1">
                <a:solidFill>
                  <a:srgbClr val="162642"/>
                </a:solidFill>
              </a:defRPr>
            </a:pPr>
            <a:r>
              <a:t>SG</a:t>
            </a:r>
          </a:p>
        </p:txBody>
      </p:sp>
      <p:sp>
        <p:nvSpPr>
          <p:cNvPr id="15" name="TextBox 14"/>
          <p:cNvSpPr txBox="1"/>
          <p:nvPr/>
        </p:nvSpPr>
        <p:spPr>
          <a:xfrm>
            <a:off x="8339328" y="4251960"/>
            <a:ext cx="2743200" cy="594359"/>
          </a:xfrm>
          <a:prstGeom prst="rect">
            <a:avLst/>
          </a:prstGeom>
          <a:noFill/>
        </p:spPr>
        <p:txBody>
          <a:bodyPr wrap="none">
            <a:spAutoFit/>
          </a:bodyPr>
          <a:lstStyle/>
          <a:p>
            <a:pPr>
              <a:defRPr sz="1250">
                <a:solidFill>
                  <a:srgbClr val="1E2733"/>
                </a:solidFill>
              </a:defRPr>
            </a:pPr>
            <a:r>
              <a:t>Measurable outcomes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2590</Words>
  <Application>Microsoft Office PowerPoint</Application>
  <PresentationFormat>Widescreen</PresentationFormat>
  <Paragraphs>305</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jithu paul</cp:lastModifiedBy>
  <cp:revision>2</cp:revision>
  <dcterms:created xsi:type="dcterms:W3CDTF">2013-01-27T09:14:16Z</dcterms:created>
  <dcterms:modified xsi:type="dcterms:W3CDTF">2026-08-12T04:42:35Z</dcterms:modified>
  <cp:category/>
</cp:coreProperties>
</file>